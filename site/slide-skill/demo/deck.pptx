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01-cover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02-challenge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03-compare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04-section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05-builder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06-cost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07-adoption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slide: 08-closing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99400" y="127000"/>
            <a:ext cx="41402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* * * ◦ ◦ ◦ • • • • • •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◦ ◦ • • • • • 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◦ ◦ • • • • ▢ ▢ ▢ 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• • • ▢ ▢ ▢ ▢ ▢ ▢ 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• • • ▢ ▢ ▢ ▣ ▣ ▣ ▣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▢ ▢ ▢ ▣ ▣ ▣ ▣ ▣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▢ ▢ ▢ ▢ ▣ ▣ ▣ ▢ ▢ 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• • • ▢ ▢ ▢ ▢ ▢ ▢ ▢ ▢ 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• • • • • • • ▢ ▢ 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• • • • • • • • • • • • •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• • • • • • • • • • •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◦ ◦ ◦ ◦ ◦ ◦ ◦ ◦ ◦ ◦ ◦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◦ ◦ ◦ ◦ ◦ ◦ ◦ ◦ ◦ ◦ ◦ ◦ ◦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◦ ◦ ◦ ◦ ◦ ◦ * * * * * *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* *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*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* *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 * * * * * * * * *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* * * * * * * + +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* * + + + + + + + +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+ + + + + + + + + -</a:t>
            </a:r>
            <a:endParaRPr lang="en-US" sz="7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73B200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+ + + + + + + + + + + + -</a:t>
            </a:r>
            <a:endParaRPr lang="en-US" sz="750" dirty="0"/>
          </a:p>
        </p:txBody>
      </p:sp>
      <p:pic>
        <p:nvPicPr>
          <p:cNvPr id="4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355600"/>
            <a:ext cx="14224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1800" y="1498600"/>
            <a:ext cx="6883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[UNS]
</a:t>
            </a:r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data foundation.</a:t>
            </a:r>
            <a:endParaRPr lang="en-US" sz="4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800" spc="-8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 applications.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31800" y="4470400"/>
            <a:ext cx="635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First for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Digitalization.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1800" y="5740400"/>
            <a:ext cx="68834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1800" y="59182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F34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31800" y="62992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0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INDUSTRIAL DATA PLATFORM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0" y="60198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F34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57200"/>
            <a:ext cx="11150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industrial digitalization projects mostly fail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08000" y="1320800"/>
            <a:ext cx="1041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new system gets integrated, customized and deployed from scratch. Cost rises while reuse disappears.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08000" y="2222500"/>
            <a:ext cx="35814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600" y="25019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6600" y="28321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two factories are alike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6600" y="35941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600" y="37465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equipment, cadence and process make every rollout a new integration and modeling project.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41800" y="2222500"/>
            <a:ext cx="3581400" cy="28575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70400" y="25019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70400" y="28321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systems cost a fortune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70400" y="35941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70400" y="37465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license is the small part. Consulting, customization, integration and operations dominate total cost.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75600" y="2222500"/>
            <a:ext cx="35814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04200" y="25019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04200" y="2832100"/>
            <a:ext cx="312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Fragmented data, tangled integrations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04200" y="3594100"/>
            <a:ext cx="31242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04200" y="3746500"/>
            <a:ext cx="312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new application adds another dedicated interface and makes the next change harder.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8000" y="5283200"/>
            <a:ext cx="111506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8000" y="5384800"/>
            <a:ext cx="50800" cy="558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1200" y="5461000"/>
            <a:ext cx="88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10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651000" y="5435600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TCO becomes a recurring cost center instead of a compounding operational asset.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965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point-to-point integration to a Unified Namespace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8000" y="1219200"/>
            <a:ext cx="5435600" cy="4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8000" y="1219200"/>
            <a:ext cx="5435600" cy="55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13716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Point-to-point integration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19558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2800" y="21590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" y="20828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application connects to every source separately.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2800" y="26670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2800" y="28702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00" y="2794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context is duplicated across projects.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2800" y="33782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2800" y="35814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6000" y="35052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small change breaks multiple interfaces.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800" y="40894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2800" y="4292600"/>
            <a:ext cx="38100" cy="304800"/>
          </a:xfrm>
          <a:prstGeom prst="rect">
            <a:avLst/>
          </a:prstGeom>
          <a:solidFill>
            <a:srgbClr val="CDCED0"/>
          </a:solidFill>
          <a:ln w="12700">
            <a:solidFill>
              <a:srgbClr val="CDCED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6000" y="42164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cost grows with every new app.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2800" y="49276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2800" y="50800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Repeat again and again.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61100" y="1219200"/>
            <a:ext cx="5435600" cy="49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61100" y="1219200"/>
            <a:ext cx="5435600" cy="558800"/>
          </a:xfrm>
          <a:prstGeom prst="rect">
            <a:avLst/>
          </a:prstGeom>
          <a:solidFill>
            <a:srgbClr val="F5FBDE"/>
          </a:solidFill>
          <a:ln w="12700">
            <a:solidFill>
              <a:srgbClr val="F5FBDE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900" y="1371600"/>
            <a:ext cx="482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Namespace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565900" y="19558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65900" y="21590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9100" y="20828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 publish once into a governed namespace.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65900" y="26670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65900" y="28702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9100" y="2794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context is shared and reusable.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65900" y="33782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65900" y="35814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69100" y="35052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read and write through one contract.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65900" y="40894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65900" y="4292600"/>
            <a:ext cx="38100" cy="3048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69100" y="42164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next use case starts with the foundation in place.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565900" y="4927600"/>
            <a:ext cx="482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65900" y="50800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once. Reuse across applications.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1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110" kern="0" dirty="0">
                <a:solidFill>
                  <a:srgbClr val="B2ED1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CHAPTER 02 ·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600" y="1828800"/>
            <a:ext cx="10604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THE FOUNDATION IS ONLY</a:t>
            </a:r>
            <a:endParaRPr lang="en-US" sz="5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Tektur" pitchFamily="34" charset="0"/>
                <a:ea typeface="Tektur" pitchFamily="34" charset="-122"/>
                <a:cs typeface="Tektur" pitchFamily="34" charset="-120"/>
              </a:rPr>
              <a:t>THE BEGINNING.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60400" y="4343400"/>
            <a:ext cx="660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ACAEB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governed industrial context in place, the next question is what teams can build on top of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600" y="5892800"/>
            <a:ext cx="10972800" cy="0"/>
          </a:xfrm>
          <a:prstGeom prst="line">
            <a:avLst/>
          </a:prstGeom>
          <a:noFill/>
          <a:ln w="12700">
            <a:solidFill>
              <a:srgbClr val="334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0" y="61468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31800"/>
            <a:ext cx="1117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Builder · from a brief to a running industrial app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8000" y="17780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8000" y="19304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1200" y="1905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whole app from a single brief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1200" y="21844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the task in plain English and receive a running application.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8000" y="26924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8000" y="28448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200" y="28194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Auto-wired to plant data via UNS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1200" y="30988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use live operational context without another integration project.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8000" y="36068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8000" y="37592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1200" y="37338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governance, built 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1200" y="40132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Users, permissions, audit and versioning are present from day one.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8000" y="4521200"/>
            <a:ext cx="4064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8000" y="4673600"/>
            <a:ext cx="38100" cy="508000"/>
          </a:xfrm>
          <a:prstGeom prst="rect">
            <a:avLst/>
          </a:prstGeom>
          <a:solidFill>
            <a:srgbClr val="B2ED1D"/>
          </a:solidFill>
          <a:ln w="12700">
            <a:solidFill>
              <a:srgbClr val="B2ED1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1200" y="46482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code, your future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11200" y="49276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web technology keeps the application extensible and portable.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53000" y="1778000"/>
            <a:ext cx="67056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34000" y="2260600"/>
            <a:ext cx="1651000" cy="990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610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· brief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85000" y="2755900"/>
            <a:ext cx="355600" cy="0"/>
          </a:xfrm>
          <a:prstGeom prst="line">
            <a:avLst/>
          </a:prstGeom>
          <a:noFill/>
          <a:ln w="25400">
            <a:solidFill>
              <a:srgbClr val="73B2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40600" y="2260600"/>
            <a:ext cx="1651000" cy="9906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676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AppBuilder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991600" y="2755900"/>
            <a:ext cx="355600" cy="0"/>
          </a:xfrm>
          <a:prstGeom prst="line">
            <a:avLst/>
          </a:prstGeom>
          <a:noFill/>
          <a:ln w="25400">
            <a:solidFill>
              <a:srgbClr val="73B2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47200" y="2260600"/>
            <a:ext cx="1651000" cy="990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74200" y="2476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Generated app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334000" y="3632200"/>
            <a:ext cx="59436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34000" y="38608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334000" y="4191000"/>
            <a:ext cx="3175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 and write live operational context through a governed namespace.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763000" y="3810000"/>
            <a:ext cx="2413000" cy="1422400"/>
          </a:xfrm>
          <a:prstGeom prst="rect">
            <a:avLst/>
          </a:prstGeom>
          <a:solidFill>
            <a:srgbClr val="F4F4F4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6200" y="4064000"/>
            <a:ext cx="2006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running application with users, permissions, audit and versioning.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064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applications — at 0.75X instead of 2X.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8000" y="11430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1270000"/>
            <a:ext cx="203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302000" y="1270000"/>
            <a:ext cx="177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334000" y="1270000"/>
            <a:ext cx="203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890000" y="1270000"/>
            <a:ext cx="2286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spc="80" kern="0" dirty="0">
                <a:solidFill>
                  <a:srgbClr val="585C6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8000" y="15748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200" y="1905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Dev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02000" y="18542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080000" y="19812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34000" y="1854200"/>
            <a:ext cx="20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620000" y="19812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382000" y="1778000"/>
            <a:ext cx="304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2X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3302000" y="2667000"/>
            <a:ext cx="787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normally equals development cost.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8000" y="31750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8000" y="3327400"/>
            <a:ext cx="11176000" cy="1524000"/>
          </a:xfrm>
          <a:prstGeom prst="rect">
            <a:avLst/>
          </a:prstGeom>
          <a:solidFill>
            <a:srgbClr val="F5FBDE"/>
          </a:solidFill>
          <a:ln w="12700">
            <a:solidFill>
              <a:srgbClr val="F5FBD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1200" y="35560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 Dev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302000" y="3505200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0.5X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5080000" y="363220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334000" y="3505200"/>
            <a:ext cx="20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0.25X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7620000" y="36322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382000" y="3429000"/>
            <a:ext cx="304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48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0.75X</a:t>
            </a:r>
            <a:endParaRPr lang="en-US" sz="4800" dirty="0"/>
          </a:p>
        </p:txBody>
      </p:sp>
      <p:sp>
        <p:nvSpPr>
          <p:cNvPr id="25" name="Text 22"/>
          <p:cNvSpPr/>
          <p:nvPr/>
        </p:nvSpPr>
        <p:spPr>
          <a:xfrm>
            <a:off x="3302000" y="4318000"/>
            <a:ext cx="787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falls as the reusable foundation compounds.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8000" y="48260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9600" y="5969000"/>
            <a:ext cx="1097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resources are saved as the namespace and application patterns are reused.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9600" y="62738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Illustrative relative model — not a customer KPI.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3900" y="304800"/>
            <a:ext cx="8255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431800"/>
            <a:ext cx="1092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spc="-40" kern="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a valuable use case. Build the reusable foundation behind it.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8000" y="1879600"/>
            <a:ext cx="2679700" cy="353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12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 a valuable operational use case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12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12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 use case with clear users, assets, data sources and business outcomes.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765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73B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289300" y="1879600"/>
            <a:ext cx="2679700" cy="35306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925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925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Unified Data Foundation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925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925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the namespace, establish operational context and connect relevant systems.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578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DCE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070600" y="1879600"/>
            <a:ext cx="2679700" cy="353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38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738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 the first Connected Application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738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38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an application on top of the shared foundation and validate it with users.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391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DCE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851900" y="1879600"/>
            <a:ext cx="2679700" cy="3530600"/>
          </a:xfrm>
          <a:prstGeom prst="rect">
            <a:avLst/>
          </a:prstGeom>
          <a:solidFill>
            <a:srgbClr val="F5FBDE"/>
          </a:solidFill>
          <a:ln w="12700">
            <a:solidFill>
              <a:srgbClr val="CDCE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5100" y="2133600"/>
            <a:ext cx="227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80" kern="0" dirty="0">
                <a:solidFill>
                  <a:srgbClr val="73B2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55100" y="2489200"/>
            <a:ext cx="22733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Expand and reuse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055100" y="3505200"/>
            <a:ext cx="22733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55100" y="3708400"/>
            <a:ext cx="227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85C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more assets, applications, analytics, digital twins and AI workflows.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820400" y="47244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DCE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508000" y="5638800"/>
            <a:ext cx="11176000" cy="0"/>
          </a:xfrm>
          <a:prstGeom prst="line">
            <a:avLst/>
          </a:prstGeom>
          <a:noFill/>
          <a:ln w="12700">
            <a:solidFill>
              <a:srgbClr val="CDCE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57912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50B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application delivers immediate value. The foundation makes every future use case easier.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Copyright © 2026 Tier0. All rights reserved.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5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er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04800"/>
            <a:ext cx="1473200" cy="35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5400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Unified Data Foundation.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09600" y="32004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B2ED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Connected Applications.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09600" y="38608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7C838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toward Operational Intelligence.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09600" y="50800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4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Tier0 Platform · www.tier0.app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548640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sales@tier0.app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7800" y="6502400"/>
            <a:ext cx="825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795000" y="65024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71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08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0261600" y="4800600"/>
            <a:ext cx="1422400" cy="1422400"/>
          </a:xfrm>
          <a:prstGeom prst="rect">
            <a:avLst/>
          </a:prstGeom>
          <a:solidFill>
            <a:srgbClr val="0E1824"/>
          </a:solidFill>
          <a:ln w="12700">
            <a:solidFill>
              <a:srgbClr val="66717D"/>
            </a:solidFill>
            <a:prstDash val="solid"/>
          </a:ln>
        </p:spPr>
      </p:sp>
      <p:pic>
        <p:nvPicPr>
          <p:cNvPr id="11" name="Image 1" descr="Tier0 website QR code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0" y="4953000"/>
            <a:ext cx="1117600" cy="1117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61600" y="6324600"/>
            <a:ext cx="142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4A9A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www.tier0.app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Tier0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Tier0 · Unified Namespace &amp; Connected Applications</dc:title>
  <dc:subject>Unified data foundation and connected applications</dc:subject>
  <dc:creator>Tier0</dc:creator>
  <cp:lastModifiedBy>Tier0</cp:lastModifiedBy>
  <cp:revision>1</cp:revision>
  <dcterms:created xsi:type="dcterms:W3CDTF">2026-08-06T01:57:48Z</dcterms:created>
  <dcterms:modified xsi:type="dcterms:W3CDTF">2026-08-06T01:57:48Z</dcterms:modified>
</cp:coreProperties>
</file>