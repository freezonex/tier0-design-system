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slide: 01-cover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slide: 02-challenge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slide: 03-compare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slide: 04-section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slide: 05-builder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slide: 06-cost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slide: 07-adoption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slide: 08-closing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0" y="0"/>
            <a:ext cx="4445000" cy="6858000"/>
          </a:xfrm>
          <a:prstGeom prst="rect">
            <a:avLst/>
          </a:prstGeom>
          <a:solidFill>
            <a:srgbClr val="B2ED1D"/>
          </a:solidFill>
          <a:ln w="12700">
            <a:solidFill>
              <a:srgbClr val="B2ED1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99400" y="127000"/>
            <a:ext cx="4140200" cy="660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 * * * ◦ ◦ ◦ • • • • • • ◦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 * * ◦ ◦ • • • • • • • • •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 * ◦ ◦ • • • • ▢ ▢ ▢ ▢ • •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◦ ◦ ◦ • • • ▢ ▢ ▢ ▢ ▢ ▢ ▢ •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◦ ◦ • • • ▢ ▢ ▢ ▣ ▣ ▣ ▣ ▢ ▢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◦ • • • ▢ ▢ ▢ ▣ ▣ ▣ ▣ ▣ ▢ ▢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◦ • • • ▢ ▢ ▢ ▢ ▣ ▣ ▣ ▢ ▢ ▢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• • • • ▢ ▢ ▢ ▢ ▢ ▢ ▢ ▢ ▢ •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• • • • • • • • ▢ ▢ ▢ • • •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◦ • • • • • • • • • • • • •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◦ ◦ • • • • • • • • • • • ◦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◦ ◦ ◦ ◦ ◦ ◦ ◦ ◦ ◦ ◦ ◦ ◦ ◦ ◦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◦ ◦ ◦ ◦ ◦ ◦ ◦ ◦ ◦ ◦ ◦ ◦ ◦ *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 ◦ ◦ ◦ ◦ ◦ ◦ * * * * * * *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 * * * * * * * * * * * * *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 * * * * * * * * * * * * +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 * * * * * * * * * * * + +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 * * * * * * * * * + + + +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 * * * * * * * + + + + + +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 + + + * * + + + + + + + +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 + + + + + + + + + + + + -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 + + + + + + + + + + + + -</a:t>
            </a:r>
            <a:endParaRPr lang="en-US" sz="750" dirty="0"/>
          </a:p>
        </p:txBody>
      </p:sp>
      <p:pic>
        <p:nvPicPr>
          <p:cNvPr id="4" name="Image 0" descr="Tier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800" y="355600"/>
            <a:ext cx="1422400" cy="355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31800" y="1498600"/>
            <a:ext cx="68834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800" spc="-80" kern="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[UNS]
</a:t>
            </a:r>
            <a:pPr algn="l" indent="0" marL="0">
              <a:lnSpc>
                <a:spcPct val="112000"/>
              </a:lnSpc>
              <a:buNone/>
            </a:pPr>
            <a:r>
              <a:rPr lang="en-US" sz="4800" spc="-80" kern="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Unified data foundation.</a:t>
            </a:r>
            <a:endParaRPr lang="en-US" sz="4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4800" spc="-80" kern="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Connected applications.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31800" y="4470400"/>
            <a:ext cx="6350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First for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Industrial Digitalization.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31800" y="5740400"/>
            <a:ext cx="68834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1800" y="5918200"/>
            <a:ext cx="381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F3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Tier0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31800" y="6299200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00" kern="0" dirty="0">
                <a:solidFill>
                  <a:srgbClr val="585C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INDUSTRIAL DATA PLATFORM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0" y="6019800"/>
            <a:ext cx="228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F34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er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3900" y="304800"/>
            <a:ext cx="825500" cy="20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457200"/>
            <a:ext cx="111506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spc="-40" kern="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industrial digitalization projects mostly fail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08000" y="1320800"/>
            <a:ext cx="1041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new system gets integrated, customized and deployed from scratch. Cost rises while reuse disappears.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08000" y="2222500"/>
            <a:ext cx="3581400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6600" y="2501900"/>
            <a:ext cx="50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73B2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6600" y="2832100"/>
            <a:ext cx="3124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two factories are alike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6600" y="3594100"/>
            <a:ext cx="31242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6600" y="3746500"/>
            <a:ext cx="3124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Different equipment, cadence and process make every rollout a new integration and modeling project.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41800" y="2222500"/>
            <a:ext cx="3581400" cy="2857500"/>
          </a:xfrm>
          <a:prstGeom prst="rect">
            <a:avLst/>
          </a:prstGeom>
          <a:solidFill>
            <a:srgbClr val="F5FBDE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70400" y="2501900"/>
            <a:ext cx="50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73B2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470400" y="2832100"/>
            <a:ext cx="3124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Digital systems cost a fortune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470400" y="3594100"/>
            <a:ext cx="31242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70400" y="3746500"/>
            <a:ext cx="3124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license is the small part. Consulting, customization, integration and operations dominate total cost.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975600" y="2222500"/>
            <a:ext cx="3581400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04200" y="2501900"/>
            <a:ext cx="50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73B2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04200" y="2832100"/>
            <a:ext cx="3124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Fragmented data, tangled integrations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204200" y="3594100"/>
            <a:ext cx="31242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04200" y="3746500"/>
            <a:ext cx="3124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new application adds another dedicated interface and makes the next change harder.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08000" y="5283200"/>
            <a:ext cx="111506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08000" y="5384800"/>
            <a:ext cx="50800" cy="558800"/>
          </a:xfrm>
          <a:prstGeom prst="rect">
            <a:avLst/>
          </a:prstGeom>
          <a:solidFill>
            <a:srgbClr val="B2ED1D"/>
          </a:solidFill>
          <a:ln w="12700">
            <a:solidFill>
              <a:srgbClr val="B2ED1D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1200" y="5461000"/>
            <a:ext cx="88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spc="100" kern="0" dirty="0">
                <a:solidFill>
                  <a:srgbClr val="73B2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RESULT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651000" y="5435600"/>
            <a:ext cx="990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TCO becomes a recurring cost center instead of a compounding operational asset.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77800" y="6502400"/>
            <a:ext cx="825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5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Copyright © 2026 Tier0. All rights reserved.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0795000" y="6502400"/>
            <a:ext cx="88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5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08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er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3900" y="304800"/>
            <a:ext cx="825500" cy="20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965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spc="-40" kern="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point-to-point integration to a Unified Namespace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08000" y="1219200"/>
            <a:ext cx="5435600" cy="490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8000" y="1219200"/>
            <a:ext cx="5435600" cy="55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1371600"/>
            <a:ext cx="482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Point-to-point integration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12800" y="1955800"/>
            <a:ext cx="4826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2800" y="2159000"/>
            <a:ext cx="38100" cy="304800"/>
          </a:xfrm>
          <a:prstGeom prst="rect">
            <a:avLst/>
          </a:prstGeom>
          <a:solidFill>
            <a:srgbClr val="CDCED0"/>
          </a:solidFill>
          <a:ln w="12700">
            <a:solidFill>
              <a:srgbClr val="CDCED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16000" y="2082800"/>
            <a:ext cx="457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application connects to every source separately.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12800" y="2667000"/>
            <a:ext cx="4826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12800" y="2870200"/>
            <a:ext cx="38100" cy="304800"/>
          </a:xfrm>
          <a:prstGeom prst="rect">
            <a:avLst/>
          </a:prstGeom>
          <a:solidFill>
            <a:srgbClr val="CDCED0"/>
          </a:solidFill>
          <a:ln w="12700">
            <a:solidFill>
              <a:srgbClr val="CDCED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16000" y="2794000"/>
            <a:ext cx="457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Semantic context is duplicated across projects.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12800" y="3378200"/>
            <a:ext cx="4826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2800" y="3581400"/>
            <a:ext cx="38100" cy="304800"/>
          </a:xfrm>
          <a:prstGeom prst="rect">
            <a:avLst/>
          </a:prstGeom>
          <a:solidFill>
            <a:srgbClr val="CDCED0"/>
          </a:solidFill>
          <a:ln w="12700">
            <a:solidFill>
              <a:srgbClr val="CDCED0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16000" y="3505200"/>
            <a:ext cx="457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small change breaks multiple interfaces.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12800" y="4089400"/>
            <a:ext cx="4826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2800" y="4292600"/>
            <a:ext cx="38100" cy="304800"/>
          </a:xfrm>
          <a:prstGeom prst="rect">
            <a:avLst/>
          </a:prstGeom>
          <a:solidFill>
            <a:srgbClr val="CDCED0"/>
          </a:solidFill>
          <a:ln w="12700">
            <a:solidFill>
              <a:srgbClr val="CDCED0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16000" y="4216400"/>
            <a:ext cx="457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Integration cost grows with every new app.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12800" y="4927600"/>
            <a:ext cx="4826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2800" y="5080000"/>
            <a:ext cx="482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85C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Repeat again and again.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261100" y="1219200"/>
            <a:ext cx="5435600" cy="490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261100" y="1219200"/>
            <a:ext cx="5435600" cy="558800"/>
          </a:xfrm>
          <a:prstGeom prst="rect">
            <a:avLst/>
          </a:prstGeom>
          <a:solidFill>
            <a:srgbClr val="F5FBDE"/>
          </a:solidFill>
          <a:ln w="12700">
            <a:solidFill>
              <a:srgbClr val="F5FBDE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65900" y="1371600"/>
            <a:ext cx="482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Unified Namespace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565900" y="1955800"/>
            <a:ext cx="4826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565900" y="2159000"/>
            <a:ext cx="38100" cy="304800"/>
          </a:xfrm>
          <a:prstGeom prst="rect">
            <a:avLst/>
          </a:prstGeom>
          <a:solidFill>
            <a:srgbClr val="B2ED1D"/>
          </a:solidFill>
          <a:ln w="12700">
            <a:solidFill>
              <a:srgbClr val="B2ED1D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69100" y="2082800"/>
            <a:ext cx="457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Sources publish once into a governed namespace.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565900" y="2667000"/>
            <a:ext cx="4826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565900" y="2870200"/>
            <a:ext cx="38100" cy="304800"/>
          </a:xfrm>
          <a:prstGeom prst="rect">
            <a:avLst/>
          </a:prstGeom>
          <a:solidFill>
            <a:srgbClr val="B2ED1D"/>
          </a:solidFill>
          <a:ln w="12700">
            <a:solidFill>
              <a:srgbClr val="B2ED1D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769100" y="2794000"/>
            <a:ext cx="457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Operational context is shared and reusable.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565900" y="3378200"/>
            <a:ext cx="4826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565900" y="3581400"/>
            <a:ext cx="38100" cy="304800"/>
          </a:xfrm>
          <a:prstGeom prst="rect">
            <a:avLst/>
          </a:prstGeom>
          <a:solidFill>
            <a:srgbClr val="B2ED1D"/>
          </a:solidFill>
          <a:ln w="12700">
            <a:solidFill>
              <a:srgbClr val="B2ED1D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769100" y="3505200"/>
            <a:ext cx="457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Applications read and write through one contract.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65900" y="4089400"/>
            <a:ext cx="4826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565900" y="4292600"/>
            <a:ext cx="38100" cy="304800"/>
          </a:xfrm>
          <a:prstGeom prst="rect">
            <a:avLst/>
          </a:prstGeom>
          <a:solidFill>
            <a:srgbClr val="B2ED1D"/>
          </a:solidFill>
          <a:ln w="12700">
            <a:solidFill>
              <a:srgbClr val="B2ED1D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769100" y="4216400"/>
            <a:ext cx="457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next use case starts with the foundation in place.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6565900" y="4927600"/>
            <a:ext cx="4826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565900" y="5080000"/>
            <a:ext cx="482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3B2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 once. Reuse across applications.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177800" y="6502400"/>
            <a:ext cx="825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5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Copyright © 2026 Tier0. All rights reserved.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0795000" y="6502400"/>
            <a:ext cx="88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5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08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31800"/>
            <a:ext cx="635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spc="110" kern="0" dirty="0">
                <a:solidFill>
                  <a:srgbClr val="B2ED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CHAPTER 02 · APPLICATIONS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600" y="1828800"/>
            <a:ext cx="106045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200" dirty="0">
                <a:solidFill>
                  <a:srgbClr val="FFFFFF"/>
                </a:solidFill>
                <a:latin typeface="Tektur" pitchFamily="34" charset="0"/>
                <a:ea typeface="Tektur" pitchFamily="34" charset="-122"/>
                <a:cs typeface="Tektur" pitchFamily="34" charset="-120"/>
              </a:rPr>
              <a:t>THE FOUNDATION IS ONLY</a:t>
            </a:r>
            <a:endParaRPr lang="en-US" sz="5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5200" dirty="0">
                <a:solidFill>
                  <a:srgbClr val="FFFFFF"/>
                </a:solidFill>
                <a:latin typeface="Tektur" pitchFamily="34" charset="0"/>
                <a:ea typeface="Tektur" pitchFamily="34" charset="-122"/>
                <a:cs typeface="Tektur" pitchFamily="34" charset="-120"/>
              </a:rPr>
              <a:t>THE BEGINNING.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60400" y="4343400"/>
            <a:ext cx="660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ACAEB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 governed industrial context in place, the next question is what teams can build on top of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600" y="5892800"/>
            <a:ext cx="10972800" cy="0"/>
          </a:xfrm>
          <a:prstGeom prst="line">
            <a:avLst/>
          </a:prstGeom>
          <a:noFill/>
          <a:ln w="12700">
            <a:solidFill>
              <a:srgbClr val="3340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95000" y="6146800"/>
            <a:ext cx="78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671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08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er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3900" y="304800"/>
            <a:ext cx="825500" cy="20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431800"/>
            <a:ext cx="11176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spc="-40" kern="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 Builder · from a brief to a running industrial app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8000" y="1778000"/>
            <a:ext cx="4064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8000" y="1930400"/>
            <a:ext cx="38100" cy="508000"/>
          </a:xfrm>
          <a:prstGeom prst="rect">
            <a:avLst/>
          </a:prstGeom>
          <a:solidFill>
            <a:srgbClr val="B2ED1D"/>
          </a:solidFill>
          <a:ln w="12700">
            <a:solidFill>
              <a:srgbClr val="B2ED1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1200" y="19050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whole app from a single brief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1200" y="218440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Describe the task in plain English and receive a running application.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8000" y="2692400"/>
            <a:ext cx="4064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8000" y="2844800"/>
            <a:ext cx="38100" cy="508000"/>
          </a:xfrm>
          <a:prstGeom prst="rect">
            <a:avLst/>
          </a:prstGeom>
          <a:solidFill>
            <a:srgbClr val="B2ED1D"/>
          </a:solidFill>
          <a:ln w="12700">
            <a:solidFill>
              <a:srgbClr val="B2ED1D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1200" y="28194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Auto-wired to plant data via UNS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11200" y="309880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Applications use live operational context without another integration project.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8000" y="3606800"/>
            <a:ext cx="4064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8000" y="3759200"/>
            <a:ext cx="38100" cy="508000"/>
          </a:xfrm>
          <a:prstGeom prst="rect">
            <a:avLst/>
          </a:prstGeom>
          <a:solidFill>
            <a:srgbClr val="B2ED1D"/>
          </a:solidFill>
          <a:ln w="12700">
            <a:solidFill>
              <a:srgbClr val="B2ED1D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1200" y="37338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Enterprise governance, built in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11200" y="401320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Users, permissions, audit and versioning are present from day one.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8000" y="4521200"/>
            <a:ext cx="4064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8000" y="4673600"/>
            <a:ext cx="38100" cy="508000"/>
          </a:xfrm>
          <a:prstGeom prst="rect">
            <a:avLst/>
          </a:prstGeom>
          <a:solidFill>
            <a:srgbClr val="B2ED1D"/>
          </a:solidFill>
          <a:ln w="12700">
            <a:solidFill>
              <a:srgbClr val="B2ED1D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1200" y="46482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code, your future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11200" y="492760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 web technology keeps the application extensible and portable.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953000" y="1778000"/>
            <a:ext cx="6705600" cy="419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334000" y="2260600"/>
            <a:ext cx="1651000" cy="990600"/>
          </a:xfrm>
          <a:prstGeom prst="rect">
            <a:avLst/>
          </a:prstGeom>
          <a:solidFill>
            <a:srgbClr val="F4F4F4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61000" y="2476500"/>
            <a:ext cx="139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 · brief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985000" y="2755900"/>
            <a:ext cx="355600" cy="0"/>
          </a:xfrm>
          <a:prstGeom prst="line">
            <a:avLst/>
          </a:prstGeom>
          <a:noFill/>
          <a:ln w="25400">
            <a:solidFill>
              <a:srgbClr val="73B20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340600" y="2260600"/>
            <a:ext cx="1651000" cy="990600"/>
          </a:xfrm>
          <a:prstGeom prst="rect">
            <a:avLst/>
          </a:prstGeom>
          <a:solidFill>
            <a:srgbClr val="F5FBDE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67600" y="2476500"/>
            <a:ext cx="139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AppBuilder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991600" y="2755900"/>
            <a:ext cx="355600" cy="0"/>
          </a:xfrm>
          <a:prstGeom prst="line">
            <a:avLst/>
          </a:prstGeom>
          <a:noFill/>
          <a:ln w="25400">
            <a:solidFill>
              <a:srgbClr val="73B20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347200" y="2260600"/>
            <a:ext cx="1651000" cy="990600"/>
          </a:xfrm>
          <a:prstGeom prst="rect">
            <a:avLst/>
          </a:prstGeom>
          <a:solidFill>
            <a:srgbClr val="F4F4F4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474200" y="2476500"/>
            <a:ext cx="139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Generated app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334000" y="3632200"/>
            <a:ext cx="59436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334000" y="3860800"/>
            <a:ext cx="317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73B2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UNS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5334000" y="4191000"/>
            <a:ext cx="3175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585C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Read and write live operational context through a governed namespace.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763000" y="3810000"/>
            <a:ext cx="2413000" cy="1422400"/>
          </a:xfrm>
          <a:prstGeom prst="rect">
            <a:avLst/>
          </a:prstGeom>
          <a:solidFill>
            <a:srgbClr val="F4F4F4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966200" y="4064000"/>
            <a:ext cx="20066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running application with users, permissions, audit and versioning.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77800" y="6502400"/>
            <a:ext cx="825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5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Copyright © 2026 Tier0. All rights reserved.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10795000" y="6502400"/>
            <a:ext cx="88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5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08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er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3900" y="304800"/>
            <a:ext cx="825500" cy="20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4064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spc="-40" kern="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same applications — at 0.75X instead of 2X.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8000" y="1143000"/>
            <a:ext cx="11176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1200" y="1270000"/>
            <a:ext cx="203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spc="80" kern="0" dirty="0">
                <a:solidFill>
                  <a:srgbClr val="585C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302000" y="1270000"/>
            <a:ext cx="177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spc="80" kern="0" dirty="0">
                <a:solidFill>
                  <a:srgbClr val="585C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DEV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334000" y="1270000"/>
            <a:ext cx="203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spc="80" kern="0" dirty="0">
                <a:solidFill>
                  <a:srgbClr val="585C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890000" y="1270000"/>
            <a:ext cx="2286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spc="80" kern="0" dirty="0">
                <a:solidFill>
                  <a:srgbClr val="585C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TOTAL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8000" y="1574800"/>
            <a:ext cx="11176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1200" y="1905000"/>
            <a:ext cx="228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Traditional Dev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302000" y="1854200"/>
            <a:ext cx="177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5080000" y="1981200"/>
            <a:ext cx="30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334000" y="1854200"/>
            <a:ext cx="203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7620000" y="1981200"/>
            <a:ext cx="50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≈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382000" y="1778000"/>
            <a:ext cx="3048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48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2X</a:t>
            </a:r>
            <a:endParaRPr lang="en-US" sz="4800" dirty="0"/>
          </a:p>
        </p:txBody>
      </p:sp>
      <p:sp>
        <p:nvSpPr>
          <p:cNvPr id="16" name="Text 13"/>
          <p:cNvSpPr/>
          <p:nvPr/>
        </p:nvSpPr>
        <p:spPr>
          <a:xfrm>
            <a:off x="3302000" y="2667000"/>
            <a:ext cx="787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Integration normally equals development cost.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8000" y="3175000"/>
            <a:ext cx="11176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8000" y="3327400"/>
            <a:ext cx="11176000" cy="1524000"/>
          </a:xfrm>
          <a:prstGeom prst="rect">
            <a:avLst/>
          </a:prstGeom>
          <a:solidFill>
            <a:srgbClr val="F5FBDE"/>
          </a:solidFill>
          <a:ln w="12700">
            <a:solidFill>
              <a:srgbClr val="F5FBDE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1200" y="3556000"/>
            <a:ext cx="228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3B2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UNS Dev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302000" y="3505200"/>
            <a:ext cx="177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0.5X</a:t>
            </a:r>
            <a:endParaRPr lang="en-US" sz="3600" dirty="0"/>
          </a:p>
        </p:txBody>
      </p:sp>
      <p:sp>
        <p:nvSpPr>
          <p:cNvPr id="21" name="Text 18"/>
          <p:cNvSpPr/>
          <p:nvPr/>
        </p:nvSpPr>
        <p:spPr>
          <a:xfrm>
            <a:off x="5080000" y="3632200"/>
            <a:ext cx="30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5334000" y="3505200"/>
            <a:ext cx="203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0.25X</a:t>
            </a: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7620000" y="3632200"/>
            <a:ext cx="50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≈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8382000" y="3429000"/>
            <a:ext cx="3048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4800" dirty="0">
                <a:solidFill>
                  <a:srgbClr val="73B2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0.75X</a:t>
            </a:r>
            <a:endParaRPr lang="en-US" sz="4800" dirty="0"/>
          </a:p>
        </p:txBody>
      </p:sp>
      <p:sp>
        <p:nvSpPr>
          <p:cNvPr id="25" name="Text 22"/>
          <p:cNvSpPr/>
          <p:nvPr/>
        </p:nvSpPr>
        <p:spPr>
          <a:xfrm>
            <a:off x="3302000" y="4318000"/>
            <a:ext cx="787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Integration falls as the reusable foundation compounds.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08000" y="4826000"/>
            <a:ext cx="11176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9600" y="5969000"/>
            <a:ext cx="1097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 resources are saved as the namespace and application patterns are reused.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09600" y="62738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5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Illustrative relative model — not a customer KPI.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77800" y="6502400"/>
            <a:ext cx="825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5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Copyright © 2026 Tier0. All rights reserved.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10795000" y="6502400"/>
            <a:ext cx="88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5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08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er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3900" y="304800"/>
            <a:ext cx="825500" cy="20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431800"/>
            <a:ext cx="10922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spc="-40" kern="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with a valuable use case. Build the reusable foundation behind it.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8000" y="1879600"/>
            <a:ext cx="2679700" cy="353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1200" y="2133600"/>
            <a:ext cx="227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spc="80" kern="0" dirty="0">
                <a:solidFill>
                  <a:srgbClr val="73B2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11200" y="2489200"/>
            <a:ext cx="22733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Select a valuable operational use case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11200" y="3505200"/>
            <a:ext cx="22733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1200" y="3708400"/>
            <a:ext cx="2273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Choose a use case with clear users, assets, data sources and business outcomes.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476500" y="4724400"/>
            <a:ext cx="50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B2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3289300" y="1879600"/>
            <a:ext cx="2679700" cy="3530600"/>
          </a:xfrm>
          <a:prstGeom prst="rect">
            <a:avLst/>
          </a:prstGeom>
          <a:solidFill>
            <a:srgbClr val="F5FBDE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92500" y="2133600"/>
            <a:ext cx="227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spc="80" kern="0" dirty="0">
                <a:solidFill>
                  <a:srgbClr val="73B2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92500" y="2489200"/>
            <a:ext cx="22733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the Unified Data Foundation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492500" y="3505200"/>
            <a:ext cx="22733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92500" y="3708400"/>
            <a:ext cx="2273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 the namespace, establish operational context and connect relevant systems.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257800" y="4724400"/>
            <a:ext cx="50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CDCE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>
            <a:off x="6070600" y="1879600"/>
            <a:ext cx="2679700" cy="353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73800" y="2133600"/>
            <a:ext cx="227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spc="80" kern="0" dirty="0">
                <a:solidFill>
                  <a:srgbClr val="73B2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273800" y="2489200"/>
            <a:ext cx="22733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Deliver the first Connected Application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273800" y="3505200"/>
            <a:ext cx="22733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73800" y="3708400"/>
            <a:ext cx="2273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Generate an application on top of the shared foundation and validate it with users.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039100" y="4724400"/>
            <a:ext cx="50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CDCE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Shape 19"/>
          <p:cNvSpPr/>
          <p:nvPr/>
        </p:nvSpPr>
        <p:spPr>
          <a:xfrm>
            <a:off x="8851900" y="1879600"/>
            <a:ext cx="2679700" cy="3530600"/>
          </a:xfrm>
          <a:prstGeom prst="rect">
            <a:avLst/>
          </a:prstGeom>
          <a:solidFill>
            <a:srgbClr val="F5FBDE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55100" y="2133600"/>
            <a:ext cx="227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spc="80" kern="0" dirty="0">
                <a:solidFill>
                  <a:srgbClr val="73B2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055100" y="2489200"/>
            <a:ext cx="22733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Expand and reuse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9055100" y="3505200"/>
            <a:ext cx="22733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055100" y="3708400"/>
            <a:ext cx="2273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more assets, applications, analytics, digital twins and AI workflows.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820400" y="4724400"/>
            <a:ext cx="50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CDCE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2800" dirty="0"/>
          </a:p>
        </p:txBody>
      </p:sp>
      <p:sp>
        <p:nvSpPr>
          <p:cNvPr id="28" name="Shape 25"/>
          <p:cNvSpPr/>
          <p:nvPr/>
        </p:nvSpPr>
        <p:spPr>
          <a:xfrm>
            <a:off x="508000" y="5638800"/>
            <a:ext cx="11176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09600" y="5791200"/>
            <a:ext cx="1097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first application delivers immediate value. The foundation makes every future use case easier.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77800" y="6502400"/>
            <a:ext cx="825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5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Copyright © 2026 Tier0. All rights reserved.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0795000" y="6502400"/>
            <a:ext cx="88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5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08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er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304800"/>
            <a:ext cx="1473200" cy="355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2540000"/>
            <a:ext cx="914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the Unified Data Foundation.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09600" y="3200400"/>
            <a:ext cx="914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B2ED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Generate Connected Applications.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09600" y="3860800"/>
            <a:ext cx="914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7C83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Move toward Operational Intelligence.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09600" y="5080000"/>
            <a:ext cx="889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4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Tier0 Platform · www.tier0.app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9600" y="5486400"/>
            <a:ext cx="889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71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sales@tier0.app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77800" y="6502400"/>
            <a:ext cx="825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795000" y="6502400"/>
            <a:ext cx="88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671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08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0261600" y="4800600"/>
            <a:ext cx="1422400" cy="1422400"/>
          </a:xfrm>
          <a:prstGeom prst="rect">
            <a:avLst/>
          </a:prstGeom>
          <a:solidFill>
            <a:srgbClr val="0E1824"/>
          </a:solidFill>
          <a:ln w="12700">
            <a:solidFill>
              <a:srgbClr val="66717D"/>
            </a:solidFill>
            <a:prstDash val="solid"/>
          </a:ln>
        </p:spPr>
      </p:sp>
      <p:pic>
        <p:nvPicPr>
          <p:cNvPr id="11" name="Image 1" descr="Tier0 website QR code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4000" y="4953000"/>
            <a:ext cx="1117600" cy="1117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261600" y="6324600"/>
            <a:ext cx="1422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4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www.tier0.app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Tier0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Tier0 · Unified Namespace &amp; Connected Applications</dc:title>
  <dc:subject>Unified data foundation and connected applications</dc:subject>
  <dc:creator>Tier0</dc:creator>
  <cp:lastModifiedBy>Tier0</cp:lastModifiedBy>
  <cp:revision>1</cp:revision>
  <dcterms:created xsi:type="dcterms:W3CDTF">2026-08-05T10:33:44Z</dcterms:created>
  <dcterms:modified xsi:type="dcterms:W3CDTF">2026-08-05T10:33:44Z</dcterms:modified>
</cp:coreProperties>
</file>