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slide: 01-cover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slide: 02-challenge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slide: 03-compare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slide: 04-section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slide: 05-builder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slide: 06-cost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slide: 07-adoption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slide: 08-closing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47000" y="0"/>
            <a:ext cx="4445000" cy="6858000"/>
          </a:xfrm>
          <a:prstGeom prst="rect">
            <a:avLst/>
          </a:prstGeom>
          <a:solidFill>
            <a:srgbClr val="B2ED1D"/>
          </a:solidFill>
          <a:ln w="12700">
            <a:solidFill>
              <a:srgbClr val="B2ED1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899400" y="127000"/>
            <a:ext cx="4140200" cy="660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90000"/>
              </a:lnSpc>
              <a:buNone/>
            </a:pPr>
            <a:r>
              <a:rPr lang="en-US" sz="750" b="1" dirty="0">
                <a:solidFill>
                  <a:srgbClr val="73B200">
                    <a:alpha val="70000"/>
                  </a:srgbClr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 * * * ◦ ◦ ◦ • • • • • • ◦</a:t>
            </a:r>
            <a:endParaRPr lang="en-US" sz="7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750" b="1" dirty="0">
                <a:solidFill>
                  <a:srgbClr val="73B200">
                    <a:alpha val="70000"/>
                  </a:srgbClr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* * * ◦ ◦ • • • • • • • • •</a:t>
            </a:r>
            <a:endParaRPr lang="en-US" sz="7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750" b="1" dirty="0">
                <a:solidFill>
                  <a:srgbClr val="73B200">
                    <a:alpha val="70000"/>
                  </a:srgbClr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* * ◦ ◦ • • • • ▢ ▢ ▢ ▢ • •</a:t>
            </a:r>
            <a:endParaRPr lang="en-US" sz="7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750" b="1" dirty="0">
                <a:solidFill>
                  <a:srgbClr val="73B200">
                    <a:alpha val="70000"/>
                  </a:srgbClr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◦ ◦ ◦ • • • ▢ ▢ ▢ ▢ ▢ ▢ ▢ •</a:t>
            </a:r>
            <a:endParaRPr lang="en-US" sz="7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750" b="1" dirty="0">
                <a:solidFill>
                  <a:srgbClr val="73B200">
                    <a:alpha val="70000"/>
                  </a:srgbClr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◦ ◦ • • • ▢ ▢ ▢ ▣ ▣ ▣ ▣ ▢ ▢</a:t>
            </a:r>
            <a:endParaRPr lang="en-US" sz="7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750" b="1" dirty="0">
                <a:solidFill>
                  <a:srgbClr val="73B200">
                    <a:alpha val="70000"/>
                  </a:srgbClr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◦ • • • ▢ ▢ ▢ ▣ ▣ ▣ ▣ ▣ ▢ ▢</a:t>
            </a:r>
            <a:endParaRPr lang="en-US" sz="7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750" b="1" dirty="0">
                <a:solidFill>
                  <a:srgbClr val="73B200">
                    <a:alpha val="70000"/>
                  </a:srgbClr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◦ • • • ▢ ▢ ▢ ▢ ▣ ▣ ▣ ▢ ▢ ▢</a:t>
            </a:r>
            <a:endParaRPr lang="en-US" sz="7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750" b="1" dirty="0">
                <a:solidFill>
                  <a:srgbClr val="73B200">
                    <a:alpha val="70000"/>
                  </a:srgbClr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• • • • ▢ ▢ ▢ ▢ ▢ ▢ ▢ ▢ ▢ •</a:t>
            </a:r>
            <a:endParaRPr lang="en-US" sz="7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750" b="1" dirty="0">
                <a:solidFill>
                  <a:srgbClr val="73B200">
                    <a:alpha val="70000"/>
                  </a:srgbClr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• • • • • • • • ▢ ▢ ▢ • • •</a:t>
            </a:r>
            <a:endParaRPr lang="en-US" sz="7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750" b="1" dirty="0">
                <a:solidFill>
                  <a:srgbClr val="73B200">
                    <a:alpha val="70000"/>
                  </a:srgbClr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◦ • • • • • • • • • • • • •</a:t>
            </a:r>
            <a:endParaRPr lang="en-US" sz="7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750" b="1" dirty="0">
                <a:solidFill>
                  <a:srgbClr val="73B200">
                    <a:alpha val="70000"/>
                  </a:srgbClr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◦ ◦ • • • • • • • • • • • ◦</a:t>
            </a:r>
            <a:endParaRPr lang="en-US" sz="7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750" b="1" dirty="0">
                <a:solidFill>
                  <a:srgbClr val="73B200">
                    <a:alpha val="70000"/>
                  </a:srgbClr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◦ ◦ ◦ ◦ ◦ ◦ ◦ ◦ ◦ ◦ ◦ ◦ ◦ ◦</a:t>
            </a:r>
            <a:endParaRPr lang="en-US" sz="7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750" b="1" dirty="0">
                <a:solidFill>
                  <a:srgbClr val="73B200">
                    <a:alpha val="70000"/>
                  </a:srgbClr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◦ ◦ ◦ ◦ ◦ ◦ ◦ ◦ ◦ ◦ ◦ ◦ ◦ *</a:t>
            </a:r>
            <a:endParaRPr lang="en-US" sz="7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750" b="1" dirty="0">
                <a:solidFill>
                  <a:srgbClr val="73B200">
                    <a:alpha val="70000"/>
                  </a:srgbClr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* ◦ ◦ ◦ ◦ ◦ ◦ * * * * * * *</a:t>
            </a:r>
            <a:endParaRPr lang="en-US" sz="7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750" b="1" dirty="0">
                <a:solidFill>
                  <a:srgbClr val="73B200">
                    <a:alpha val="70000"/>
                  </a:srgbClr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* * * * * * * * * * * * * *</a:t>
            </a:r>
            <a:endParaRPr lang="en-US" sz="7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750" b="1" dirty="0">
                <a:solidFill>
                  <a:srgbClr val="73B200">
                    <a:alpha val="70000"/>
                  </a:srgbClr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* * * * * * * * * * * * * +</a:t>
            </a:r>
            <a:endParaRPr lang="en-US" sz="7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750" b="1" dirty="0">
                <a:solidFill>
                  <a:srgbClr val="73B200">
                    <a:alpha val="70000"/>
                  </a:srgbClr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* * * * * * * * * * * * + +</a:t>
            </a:r>
            <a:endParaRPr lang="en-US" sz="7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750" b="1" dirty="0">
                <a:solidFill>
                  <a:srgbClr val="73B200">
                    <a:alpha val="70000"/>
                  </a:srgbClr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* * * * * * * * * * + + + +</a:t>
            </a:r>
            <a:endParaRPr lang="en-US" sz="7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750" b="1" dirty="0">
                <a:solidFill>
                  <a:srgbClr val="73B200">
                    <a:alpha val="70000"/>
                  </a:srgbClr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 * * * * * * * + + + + + +</a:t>
            </a:r>
            <a:endParaRPr lang="en-US" sz="7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750" b="1" dirty="0">
                <a:solidFill>
                  <a:srgbClr val="73B200">
                    <a:alpha val="70000"/>
                  </a:srgbClr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 + + + * * + + + + + + + +</a:t>
            </a:r>
            <a:endParaRPr lang="en-US" sz="7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750" b="1" dirty="0">
                <a:solidFill>
                  <a:srgbClr val="73B200">
                    <a:alpha val="70000"/>
                  </a:srgbClr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 + + + + + + + + + + + + -</a:t>
            </a:r>
            <a:endParaRPr lang="en-US" sz="7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750" b="1" dirty="0">
                <a:solidFill>
                  <a:srgbClr val="73B200">
                    <a:alpha val="70000"/>
                  </a:srgbClr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 + + + + + + + + + + + + -</a:t>
            </a:r>
            <a:endParaRPr lang="en-US" sz="750" dirty="0"/>
          </a:p>
        </p:txBody>
      </p:sp>
      <p:pic>
        <p:nvPicPr>
          <p:cNvPr id="4" name="Image 0" descr="Tier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1800" y="381000"/>
            <a:ext cx="1320800" cy="330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31800" y="1701800"/>
            <a:ext cx="6883400" cy="2362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600" spc="-20" kern="0" dirty="0">
                <a:solidFill>
                  <a:srgbClr val="050B1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Build the Unified Data Foundation.</a:t>
            </a:r>
            <a:endParaRPr lang="en-US" sz="360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3600" spc="-20" kern="0" dirty="0">
                <a:solidFill>
                  <a:srgbClr val="050B1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Generate Connected Applications.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431800" y="4216400"/>
            <a:ext cx="59690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585C6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 First for</a:t>
            </a:r>
            <a:endParaRPr lang="en-US" sz="20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585C6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Industrial Digitalization.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431800" y="5740400"/>
            <a:ext cx="6883400" cy="0"/>
          </a:xfrm>
          <a:prstGeom prst="line">
            <a:avLst/>
          </a:prstGeom>
          <a:noFill/>
          <a:ln w="12700">
            <a:solidFill>
              <a:srgbClr val="CDCED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31800" y="5918200"/>
            <a:ext cx="381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2F34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Tier0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431800" y="6299200"/>
            <a:ext cx="406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spc="100" kern="0" dirty="0">
                <a:solidFill>
                  <a:srgbClr val="585C6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INDUSTRIAL DATA PLATFORM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029200" y="6019800"/>
            <a:ext cx="228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F343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ier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3900" y="304800"/>
            <a:ext cx="825500" cy="203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8000" y="4318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spc="100" kern="0" dirty="0">
                <a:solidFill>
                  <a:srgbClr val="73B2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08000" y="762000"/>
            <a:ext cx="1115060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050B1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Industrial Digitalization Projects Mostly Fail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08000" y="1524000"/>
            <a:ext cx="1041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85C6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new system gets integrated, customized and deployed from scratch. Cost rises while reuse disappears.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08000" y="2095500"/>
            <a:ext cx="3581400" cy="29845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D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8000" y="2095500"/>
            <a:ext cx="3581400" cy="0"/>
          </a:xfrm>
          <a:prstGeom prst="line">
            <a:avLst/>
          </a:prstGeom>
          <a:noFill/>
          <a:ln w="25400">
            <a:solidFill>
              <a:srgbClr val="B2ED1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6600" y="2463800"/>
            <a:ext cx="50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73B2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736600" y="2806700"/>
            <a:ext cx="3124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50B1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two factories are alike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36600" y="3492500"/>
            <a:ext cx="3124200" cy="0"/>
          </a:xfrm>
          <a:prstGeom prst="line">
            <a:avLst/>
          </a:prstGeom>
          <a:noFill/>
          <a:ln w="12700">
            <a:solidFill>
              <a:srgbClr val="CDCED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36600" y="3632200"/>
            <a:ext cx="31242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585C6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Different equipment, cadence and process make every rollout a new integration and modeling project.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241800" y="2095500"/>
            <a:ext cx="3581400" cy="29845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D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241800" y="2095500"/>
            <a:ext cx="3581400" cy="0"/>
          </a:xfrm>
          <a:prstGeom prst="line">
            <a:avLst/>
          </a:prstGeom>
          <a:noFill/>
          <a:ln w="25400">
            <a:solidFill>
              <a:srgbClr val="B2ED1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70400" y="2463800"/>
            <a:ext cx="50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73B2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470400" y="2806700"/>
            <a:ext cx="3124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50B1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Digital systems cost a fortune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470400" y="3492500"/>
            <a:ext cx="3124200" cy="0"/>
          </a:xfrm>
          <a:prstGeom prst="line">
            <a:avLst/>
          </a:prstGeom>
          <a:noFill/>
          <a:ln w="12700">
            <a:solidFill>
              <a:srgbClr val="CDCED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470400" y="3632200"/>
            <a:ext cx="31242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585C6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license is the small part. Consulting, customization, integration and operations dominate total cost.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975600" y="2095500"/>
            <a:ext cx="3581400" cy="29845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D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975600" y="2095500"/>
            <a:ext cx="3581400" cy="0"/>
          </a:xfrm>
          <a:prstGeom prst="line">
            <a:avLst/>
          </a:prstGeom>
          <a:noFill/>
          <a:ln w="25400">
            <a:solidFill>
              <a:srgbClr val="B2ED1D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04200" y="2463800"/>
            <a:ext cx="50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73B2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8204200" y="2806700"/>
            <a:ext cx="3124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50B1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Fragmented data, tangled integrations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8204200" y="3492500"/>
            <a:ext cx="3124200" cy="0"/>
          </a:xfrm>
          <a:prstGeom prst="line">
            <a:avLst/>
          </a:prstGeom>
          <a:noFill/>
          <a:ln w="12700">
            <a:solidFill>
              <a:srgbClr val="CDCED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04200" y="3632200"/>
            <a:ext cx="31242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585C6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Each new application adds another dedicated interface and makes the next change harder.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08000" y="5321300"/>
            <a:ext cx="11150600" cy="647700"/>
          </a:xfrm>
          <a:prstGeom prst="rect">
            <a:avLst/>
          </a:prstGeom>
          <a:solidFill>
            <a:srgbClr val="F5FBDE"/>
          </a:solidFill>
          <a:ln w="12700">
            <a:solidFill>
              <a:srgbClr val="F5FBDE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08000" y="5321300"/>
            <a:ext cx="50800" cy="647700"/>
          </a:xfrm>
          <a:prstGeom prst="rect">
            <a:avLst/>
          </a:prstGeom>
          <a:solidFill>
            <a:srgbClr val="B2ED1D"/>
          </a:solidFill>
          <a:ln w="12700">
            <a:solidFill>
              <a:srgbClr val="B2ED1D">
                <a:alpha val="0"/>
              </a:srgbClr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7400" y="5524500"/>
            <a:ext cx="88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b="1" spc="100" kern="0" dirty="0">
                <a:solidFill>
                  <a:srgbClr val="73B2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RESULT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1714500" y="5448300"/>
            <a:ext cx="927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50B1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TCO becomes a recurring cost center instead of a compounding operational asset.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177800" y="6502400"/>
            <a:ext cx="825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A5A5A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Copyright © 2026 Tier0. All rights reserved.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10795000" y="6502400"/>
            <a:ext cx="889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A5A5A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/ 08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ier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3900" y="304800"/>
            <a:ext cx="825500" cy="203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8000" y="355600"/>
            <a:ext cx="8890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050B1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From Point-to-Point Integration to a Unified Namespace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08000" y="1181100"/>
            <a:ext cx="5435600" cy="495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D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08000" y="1181100"/>
            <a:ext cx="5435600" cy="38100"/>
          </a:xfrm>
          <a:prstGeom prst="rect">
            <a:avLst/>
          </a:prstGeom>
          <a:solidFill>
            <a:srgbClr val="B2ED1D"/>
          </a:solidFill>
          <a:ln w="12700">
            <a:solidFill>
              <a:srgbClr val="B2ED1D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08000" y="1219200"/>
            <a:ext cx="5435600" cy="54610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2000" y="1333500"/>
            <a:ext cx="4927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050B1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Point-to-point integration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965200" y="2222500"/>
            <a:ext cx="127000" cy="127000"/>
          </a:xfrm>
          <a:prstGeom prst="rect">
            <a:avLst/>
          </a:prstGeom>
          <a:solidFill>
            <a:srgbClr val="CDCED0"/>
          </a:solidFill>
          <a:ln w="12700">
            <a:solidFill>
              <a:srgbClr val="CDCED0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244600" y="2133600"/>
            <a:ext cx="419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85C6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application connects to every source separately.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965200" y="2832100"/>
            <a:ext cx="127000" cy="127000"/>
          </a:xfrm>
          <a:prstGeom prst="rect">
            <a:avLst/>
          </a:prstGeom>
          <a:solidFill>
            <a:srgbClr val="CDCED0"/>
          </a:solidFill>
          <a:ln w="12700">
            <a:solidFill>
              <a:srgbClr val="CDCED0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244600" y="2743200"/>
            <a:ext cx="419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85C6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Semantic context is duplicated across projects.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965200" y="3441700"/>
            <a:ext cx="127000" cy="127000"/>
          </a:xfrm>
          <a:prstGeom prst="rect">
            <a:avLst/>
          </a:prstGeom>
          <a:solidFill>
            <a:srgbClr val="CDCED0"/>
          </a:solidFill>
          <a:ln w="12700">
            <a:solidFill>
              <a:srgbClr val="CDCED0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244600" y="3352800"/>
            <a:ext cx="419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85C6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small change breaks multiple interfaces.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965200" y="4051300"/>
            <a:ext cx="127000" cy="127000"/>
          </a:xfrm>
          <a:prstGeom prst="rect">
            <a:avLst/>
          </a:prstGeom>
          <a:solidFill>
            <a:srgbClr val="CDCED0"/>
          </a:solidFill>
          <a:ln w="12700">
            <a:solidFill>
              <a:srgbClr val="CDCED0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44600" y="3962400"/>
            <a:ext cx="419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85C6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Integration cost grows with every new app.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12800" y="5461000"/>
            <a:ext cx="4826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85C6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Repeat again and again.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6261100" y="1181100"/>
            <a:ext cx="5435600" cy="495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D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261100" y="1181100"/>
            <a:ext cx="5435600" cy="38100"/>
          </a:xfrm>
          <a:prstGeom prst="rect">
            <a:avLst/>
          </a:prstGeom>
          <a:solidFill>
            <a:srgbClr val="B2ED1D"/>
          </a:solidFill>
          <a:ln w="12700">
            <a:solidFill>
              <a:srgbClr val="B2ED1D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261100" y="1219200"/>
            <a:ext cx="5435600" cy="546100"/>
          </a:xfrm>
          <a:prstGeom prst="rect">
            <a:avLst/>
          </a:prstGeom>
          <a:solidFill>
            <a:srgbClr val="F5FBDE"/>
          </a:solidFill>
          <a:ln w="12700">
            <a:solidFill>
              <a:srgbClr val="F5FBDE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15100" y="1333500"/>
            <a:ext cx="4927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050B1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Unified Namespace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6718300" y="2222500"/>
            <a:ext cx="127000" cy="127000"/>
          </a:xfrm>
          <a:prstGeom prst="rect">
            <a:avLst/>
          </a:prstGeom>
          <a:solidFill>
            <a:srgbClr val="B2ED1D"/>
          </a:solidFill>
          <a:ln w="12700">
            <a:solidFill>
              <a:srgbClr val="B2ED1D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997700" y="2133600"/>
            <a:ext cx="419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85C6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Sources publish once into a governed namespace.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718300" y="2832100"/>
            <a:ext cx="127000" cy="127000"/>
          </a:xfrm>
          <a:prstGeom prst="rect">
            <a:avLst/>
          </a:prstGeom>
          <a:solidFill>
            <a:srgbClr val="B2ED1D"/>
          </a:solidFill>
          <a:ln w="12700">
            <a:solidFill>
              <a:srgbClr val="B2ED1D">
                <a:alpha val="0"/>
              </a:srgbClr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997700" y="2743200"/>
            <a:ext cx="419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85C6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Operational context is shared and reusable.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718300" y="3441700"/>
            <a:ext cx="127000" cy="127000"/>
          </a:xfrm>
          <a:prstGeom prst="rect">
            <a:avLst/>
          </a:prstGeom>
          <a:solidFill>
            <a:srgbClr val="B2ED1D"/>
          </a:solidFill>
          <a:ln w="12700">
            <a:solidFill>
              <a:srgbClr val="B2ED1D">
                <a:alpha val="0"/>
              </a:srgbClr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997700" y="3352800"/>
            <a:ext cx="419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85C6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Applications read and write through one contract.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6718300" y="4051300"/>
            <a:ext cx="127000" cy="127000"/>
          </a:xfrm>
          <a:prstGeom prst="rect">
            <a:avLst/>
          </a:prstGeom>
          <a:solidFill>
            <a:srgbClr val="B2ED1D"/>
          </a:solidFill>
          <a:ln w="12700">
            <a:solidFill>
              <a:srgbClr val="B2ED1D">
                <a:alpha val="0"/>
              </a:srgbClr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997700" y="3962400"/>
            <a:ext cx="419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85C6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next use case starts with the foundation in place.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565900" y="5461000"/>
            <a:ext cx="4826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85C6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Build once. Reuse across applications.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177800" y="6502400"/>
            <a:ext cx="825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A5A5A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Copyright © 2026 Tier0. All rights reserved.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10795000" y="6502400"/>
            <a:ext cx="889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A5A5A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/ 08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10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3180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b="1" spc="110" kern="0" dirty="0">
                <a:solidFill>
                  <a:srgbClr val="B2ED1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CHAPTER 02 · APPLICATIONS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09600" y="1828800"/>
            <a:ext cx="10604500" cy="2159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58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foundation is only</a:t>
            </a:r>
            <a:endParaRPr lang="en-US" sz="5800" dirty="0"/>
          </a:p>
          <a:p>
            <a:pPr algn="l" indent="0" marL="0">
              <a:lnSpc>
                <a:spcPct val="96000"/>
              </a:lnSpc>
              <a:buNone/>
            </a:pPr>
            <a:r>
              <a:rPr lang="en-US" sz="58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beginning.</a:t>
            </a:r>
            <a:endParaRPr lang="en-US" sz="5800" dirty="0"/>
          </a:p>
        </p:txBody>
      </p:sp>
      <p:sp>
        <p:nvSpPr>
          <p:cNvPr id="4" name="Text 2"/>
          <p:cNvSpPr/>
          <p:nvPr/>
        </p:nvSpPr>
        <p:spPr>
          <a:xfrm>
            <a:off x="660400" y="4343400"/>
            <a:ext cx="596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ACAEB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With governed industrial context in place, the next question is what teams can build on top of it.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09600" y="5892800"/>
            <a:ext cx="10972800" cy="0"/>
          </a:xfrm>
          <a:prstGeom prst="line">
            <a:avLst/>
          </a:prstGeom>
          <a:noFill/>
          <a:ln w="12700">
            <a:solidFill>
              <a:srgbClr val="3340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600" y="6146800"/>
            <a:ext cx="508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spc="60" kern="0" dirty="0">
                <a:solidFill>
                  <a:srgbClr val="66717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SECTION DIVIDER · PURE TITLE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795000" y="6146800"/>
            <a:ext cx="78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66717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/ 08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ier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3900" y="304800"/>
            <a:ext cx="825500" cy="203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8000" y="431800"/>
            <a:ext cx="533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b="1" spc="100" kern="0" dirty="0">
                <a:solidFill>
                  <a:srgbClr val="73B2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APP GENERATION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08000" y="762000"/>
            <a:ext cx="111760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050B1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App Builder · Bringing Vibe Coding to the Industrial World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08000" y="1930400"/>
            <a:ext cx="38100" cy="698500"/>
          </a:xfrm>
          <a:prstGeom prst="rect">
            <a:avLst/>
          </a:prstGeom>
          <a:solidFill>
            <a:srgbClr val="B2ED1D"/>
          </a:solidFill>
          <a:ln w="12700">
            <a:solidFill>
              <a:srgbClr val="B2ED1D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11200" y="1905000"/>
            <a:ext cx="381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050B1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whole app from a single brief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711200" y="2209800"/>
            <a:ext cx="3810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585C6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Describe the task in plain English and receive a running application.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508000" y="2895600"/>
            <a:ext cx="38100" cy="698500"/>
          </a:xfrm>
          <a:prstGeom prst="rect">
            <a:avLst/>
          </a:prstGeom>
          <a:solidFill>
            <a:srgbClr val="B2ED1D"/>
          </a:solidFill>
          <a:ln w="12700">
            <a:solidFill>
              <a:srgbClr val="B2ED1D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11200" y="2870200"/>
            <a:ext cx="381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050B1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Auto-wired to plant data via UNS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11200" y="3175000"/>
            <a:ext cx="3810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585C6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Applications use live operational context without another integration project.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08000" y="3860800"/>
            <a:ext cx="38100" cy="698500"/>
          </a:xfrm>
          <a:prstGeom prst="rect">
            <a:avLst/>
          </a:prstGeom>
          <a:solidFill>
            <a:srgbClr val="B2ED1D"/>
          </a:solidFill>
          <a:ln w="12700">
            <a:solidFill>
              <a:srgbClr val="B2ED1D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11200" y="3835400"/>
            <a:ext cx="381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050B1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Enterprise governance, built in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711200" y="4140200"/>
            <a:ext cx="3810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585C6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Users, permissions, audit and versioning are present from day one.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8000" y="4826000"/>
            <a:ext cx="38100" cy="698500"/>
          </a:xfrm>
          <a:prstGeom prst="rect">
            <a:avLst/>
          </a:prstGeom>
          <a:solidFill>
            <a:srgbClr val="B2ED1D"/>
          </a:solidFill>
          <a:ln w="12700">
            <a:solidFill>
              <a:srgbClr val="B2ED1D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11200" y="4800600"/>
            <a:ext cx="381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050B1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Your code, your future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711200" y="5105400"/>
            <a:ext cx="3810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585C6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Standard web technology keeps the application extensible and portable.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53000" y="1816100"/>
            <a:ext cx="6705600" cy="4191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D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334000" y="2260600"/>
            <a:ext cx="1651000" cy="990600"/>
          </a:xfrm>
          <a:prstGeom prst="rect">
            <a:avLst/>
          </a:prstGeom>
          <a:solidFill>
            <a:srgbClr val="F4F4F4"/>
          </a:solidFill>
          <a:ln w="12700">
            <a:solidFill>
              <a:srgbClr val="CDCED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461000" y="2476500"/>
            <a:ext cx="1397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050B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USER · brief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985000" y="2755900"/>
            <a:ext cx="355600" cy="0"/>
          </a:xfrm>
          <a:prstGeom prst="line">
            <a:avLst/>
          </a:prstGeom>
          <a:noFill/>
          <a:ln w="25400">
            <a:solidFill>
              <a:srgbClr val="73B20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340600" y="2260600"/>
            <a:ext cx="1651000" cy="990600"/>
          </a:xfrm>
          <a:prstGeom prst="rect">
            <a:avLst/>
          </a:prstGeom>
          <a:solidFill>
            <a:srgbClr val="F5FBDE"/>
          </a:solidFill>
          <a:ln w="12700">
            <a:solidFill>
              <a:srgbClr val="CDCED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467600" y="2476500"/>
            <a:ext cx="1397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50B14"/>
                </a:solidFill>
                <a:latin typeface="Tektur" pitchFamily="34" charset="0"/>
                <a:ea typeface="Tektur" pitchFamily="34" charset="-122"/>
                <a:cs typeface="Tektur" pitchFamily="34" charset="-120"/>
              </a:rPr>
              <a:t>AppBuilder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8991600" y="2755900"/>
            <a:ext cx="355600" cy="0"/>
          </a:xfrm>
          <a:prstGeom prst="line">
            <a:avLst/>
          </a:prstGeom>
          <a:noFill/>
          <a:ln w="25400">
            <a:solidFill>
              <a:srgbClr val="73B20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9347200" y="2260600"/>
            <a:ext cx="1651000" cy="990600"/>
          </a:xfrm>
          <a:prstGeom prst="rect">
            <a:avLst/>
          </a:prstGeom>
          <a:solidFill>
            <a:srgbClr val="F4F4F4"/>
          </a:solidFill>
          <a:ln w="12700">
            <a:solidFill>
              <a:srgbClr val="CDCED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474200" y="2476500"/>
            <a:ext cx="1397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050B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Generated app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5334000" y="3644900"/>
            <a:ext cx="317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73B200"/>
                </a:solidFill>
                <a:latin typeface="Tektur" pitchFamily="34" charset="0"/>
                <a:ea typeface="Tektur" pitchFamily="34" charset="-122"/>
                <a:cs typeface="Tektur" pitchFamily="34" charset="-120"/>
              </a:rPr>
              <a:t>UNS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5334000" y="3962400"/>
            <a:ext cx="317500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585C6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Read and write live operational context through a governed namespace.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8763000" y="3632200"/>
            <a:ext cx="2413000" cy="1422400"/>
          </a:xfrm>
          <a:prstGeom prst="rect">
            <a:avLst/>
          </a:prstGeom>
          <a:solidFill>
            <a:srgbClr val="F4F4F4"/>
          </a:solidFill>
          <a:ln w="12700">
            <a:solidFill>
              <a:srgbClr val="CDCED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017000" y="3898900"/>
            <a:ext cx="190500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50B1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running application with users, permissions, audit and versioning.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177800" y="6502400"/>
            <a:ext cx="825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A5A5A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Copyright © 2026 Tier0. All rights reserved.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10795000" y="6502400"/>
            <a:ext cx="889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A5A5A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/ 08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ier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3900" y="304800"/>
            <a:ext cx="825500" cy="203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9600" y="355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b="1" spc="100" kern="0" dirty="0">
                <a:solidFill>
                  <a:srgbClr val="73B2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COST CALCULATIONS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609600" y="685800"/>
            <a:ext cx="109728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050B1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same applications — at 0.75X instead of 2X.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355600" y="1346200"/>
            <a:ext cx="11480800" cy="20955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D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63600" y="2171700"/>
            <a:ext cx="1397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50B1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Traditional Dev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10200" y="2032000"/>
            <a:ext cx="152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spc="80" kern="0" dirty="0">
                <a:solidFill>
                  <a:srgbClr val="585C6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DEV COST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10200" y="2286000"/>
            <a:ext cx="15240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50B14"/>
                </a:solidFill>
                <a:latin typeface="Tektur" pitchFamily="34" charset="0"/>
                <a:ea typeface="Tektur" pitchFamily="34" charset="-122"/>
                <a:cs typeface="Tektur" pitchFamily="34" charset="-120"/>
              </a:rPr>
              <a:t>X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6959600" y="2349500"/>
            <a:ext cx="381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050B14"/>
                </a:solidFill>
                <a:latin typeface="Tektur" pitchFamily="34" charset="0"/>
                <a:ea typeface="Tektur" pitchFamily="34" charset="-122"/>
                <a:cs typeface="Tektur" pitchFamily="34" charset="-120"/>
              </a:rPr>
              <a:t>+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7391400" y="2032000"/>
            <a:ext cx="228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spc="80" kern="0" dirty="0">
                <a:solidFill>
                  <a:srgbClr val="585C6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INTEGRATION COST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7391400" y="2286000"/>
            <a:ext cx="22860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50B14"/>
                </a:solidFill>
                <a:latin typeface="Tektur" pitchFamily="34" charset="0"/>
                <a:ea typeface="Tektur" pitchFamily="34" charset="-122"/>
                <a:cs typeface="Tektur" pitchFamily="34" charset="-120"/>
              </a:rPr>
              <a:t>X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9525000" y="2349500"/>
            <a:ext cx="381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050B14"/>
                </a:solidFill>
                <a:latin typeface="Tektur" pitchFamily="34" charset="0"/>
                <a:ea typeface="Tektur" pitchFamily="34" charset="-122"/>
                <a:cs typeface="Tektur" pitchFamily="34" charset="-120"/>
              </a:rPr>
              <a:t>≈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9906000" y="2032000"/>
            <a:ext cx="152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spc="80" kern="0" dirty="0">
                <a:solidFill>
                  <a:srgbClr val="585C6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TOTAL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9906000" y="2209800"/>
            <a:ext cx="16510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050B14"/>
                </a:solidFill>
                <a:latin typeface="Tektur" pitchFamily="34" charset="0"/>
                <a:ea typeface="Tektur" pitchFamily="34" charset="-122"/>
                <a:cs typeface="Tektur" pitchFamily="34" charset="-120"/>
              </a:rPr>
              <a:t>2X</a:t>
            </a:r>
            <a:endParaRPr lang="en-US" sz="4000" dirty="0"/>
          </a:p>
        </p:txBody>
      </p:sp>
      <p:sp>
        <p:nvSpPr>
          <p:cNvPr id="15" name="Text 12"/>
          <p:cNvSpPr/>
          <p:nvPr/>
        </p:nvSpPr>
        <p:spPr>
          <a:xfrm>
            <a:off x="5410200" y="2997200"/>
            <a:ext cx="546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85C6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Integration normally equals development cost.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355600" y="3632200"/>
            <a:ext cx="11480800" cy="20955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D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63600" y="4457700"/>
            <a:ext cx="1397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73B2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UNS Dev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410200" y="4318000"/>
            <a:ext cx="152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spc="80" kern="0" dirty="0">
                <a:solidFill>
                  <a:srgbClr val="585C6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DEV COST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5410200" y="4572000"/>
            <a:ext cx="15240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73B200"/>
                </a:solidFill>
                <a:latin typeface="Tektur" pitchFamily="34" charset="0"/>
                <a:ea typeface="Tektur" pitchFamily="34" charset="-122"/>
                <a:cs typeface="Tektur" pitchFamily="34" charset="-120"/>
              </a:rPr>
              <a:t>0.5X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6959600" y="4635500"/>
            <a:ext cx="381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050B14"/>
                </a:solidFill>
                <a:latin typeface="Tektur" pitchFamily="34" charset="0"/>
                <a:ea typeface="Tektur" pitchFamily="34" charset="-122"/>
                <a:cs typeface="Tektur" pitchFamily="34" charset="-120"/>
              </a:rPr>
              <a:t>+</a:t>
            </a:r>
            <a:endParaRPr lang="en-US" sz="2400" dirty="0"/>
          </a:p>
        </p:txBody>
      </p:sp>
      <p:sp>
        <p:nvSpPr>
          <p:cNvPr id="21" name="Text 18"/>
          <p:cNvSpPr/>
          <p:nvPr/>
        </p:nvSpPr>
        <p:spPr>
          <a:xfrm>
            <a:off x="7391400" y="4318000"/>
            <a:ext cx="228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spc="80" kern="0" dirty="0">
                <a:solidFill>
                  <a:srgbClr val="585C6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INTEGRATION COST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7391400" y="4572000"/>
            <a:ext cx="22860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73B200"/>
                </a:solidFill>
                <a:latin typeface="Tektur" pitchFamily="34" charset="0"/>
                <a:ea typeface="Tektur" pitchFamily="34" charset="-122"/>
                <a:cs typeface="Tektur" pitchFamily="34" charset="-120"/>
              </a:rPr>
              <a:t>0.25X</a:t>
            </a:r>
            <a:endParaRPr lang="en-US" sz="3400" dirty="0"/>
          </a:p>
        </p:txBody>
      </p:sp>
      <p:sp>
        <p:nvSpPr>
          <p:cNvPr id="23" name="Text 20"/>
          <p:cNvSpPr/>
          <p:nvPr/>
        </p:nvSpPr>
        <p:spPr>
          <a:xfrm>
            <a:off x="9525000" y="4635500"/>
            <a:ext cx="381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050B14"/>
                </a:solidFill>
                <a:latin typeface="Tektur" pitchFamily="34" charset="0"/>
                <a:ea typeface="Tektur" pitchFamily="34" charset="-122"/>
                <a:cs typeface="Tektur" pitchFamily="34" charset="-120"/>
              </a:rPr>
              <a:t>≈</a:t>
            </a:r>
            <a:endParaRPr lang="en-US" sz="2400" dirty="0"/>
          </a:p>
        </p:txBody>
      </p:sp>
      <p:sp>
        <p:nvSpPr>
          <p:cNvPr id="24" name="Text 21"/>
          <p:cNvSpPr/>
          <p:nvPr/>
        </p:nvSpPr>
        <p:spPr>
          <a:xfrm>
            <a:off x="9906000" y="4318000"/>
            <a:ext cx="152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spc="80" kern="0" dirty="0">
                <a:solidFill>
                  <a:srgbClr val="585C6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TOTAL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9906000" y="4495800"/>
            <a:ext cx="16510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73B200"/>
                </a:solidFill>
                <a:latin typeface="Tektur" pitchFamily="34" charset="0"/>
                <a:ea typeface="Tektur" pitchFamily="34" charset="-122"/>
                <a:cs typeface="Tektur" pitchFamily="34" charset="-120"/>
              </a:rPr>
              <a:t>0.75X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5410200" y="5283200"/>
            <a:ext cx="546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85C6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Integration falls as the reusable foundation compounds.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609600" y="6121400"/>
            <a:ext cx="10972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50B1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Customer resources are saved as the namespace and application patterns are reused.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177800" y="6502400"/>
            <a:ext cx="825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A5A5A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Copyright © 2026 Tier0. All rights reserved.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10795000" y="6502400"/>
            <a:ext cx="889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A5A5A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/ 08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ier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3900" y="304800"/>
            <a:ext cx="825500" cy="203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8000" y="431800"/>
            <a:ext cx="508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b="1" spc="100" kern="0" dirty="0">
                <a:solidFill>
                  <a:srgbClr val="73B2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RECOMMENDED ADOPTION PATH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08000" y="762000"/>
            <a:ext cx="10922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050B1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Start with a valuable use case. Build the reusable foundation behind it.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08000" y="1968500"/>
            <a:ext cx="2679700" cy="345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D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08000" y="1968500"/>
            <a:ext cx="2679700" cy="0"/>
          </a:xfrm>
          <a:prstGeom prst="line">
            <a:avLst/>
          </a:prstGeom>
          <a:noFill/>
          <a:ln w="25400">
            <a:solidFill>
              <a:srgbClr val="B2ED1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11200" y="2298700"/>
            <a:ext cx="2273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b="1" spc="80" kern="0" dirty="0">
                <a:solidFill>
                  <a:srgbClr val="73B2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PHASE 1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711200" y="2679700"/>
            <a:ext cx="22733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50B1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Select a valuable operational use case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11200" y="3733800"/>
            <a:ext cx="22733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585C6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Choose a use case with clear users, assets, data sources and business outcomes.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89300" y="1968500"/>
            <a:ext cx="2679700" cy="345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D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289300" y="1968500"/>
            <a:ext cx="2679700" cy="0"/>
          </a:xfrm>
          <a:prstGeom prst="line">
            <a:avLst/>
          </a:prstGeom>
          <a:noFill/>
          <a:ln w="25400">
            <a:solidFill>
              <a:srgbClr val="B2ED1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492500" y="2298700"/>
            <a:ext cx="2273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b="1" spc="80" kern="0" dirty="0">
                <a:solidFill>
                  <a:srgbClr val="73B2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PHASE 2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3492500" y="2679700"/>
            <a:ext cx="22733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50B1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Build the Unified Data Foundation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3492500" y="3733800"/>
            <a:ext cx="22733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585C6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Create the namespace, establish operational context and connect relevant systems.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070600" y="1968500"/>
            <a:ext cx="2679700" cy="345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D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070600" y="1968500"/>
            <a:ext cx="2679700" cy="0"/>
          </a:xfrm>
          <a:prstGeom prst="line">
            <a:avLst/>
          </a:prstGeom>
          <a:noFill/>
          <a:ln w="25400">
            <a:solidFill>
              <a:srgbClr val="B2ED1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273800" y="2298700"/>
            <a:ext cx="2273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b="1" spc="80" kern="0" dirty="0">
                <a:solidFill>
                  <a:srgbClr val="73B2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PHASE 3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6273800" y="2679700"/>
            <a:ext cx="22733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50B1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Deliver the first Connected Application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273800" y="3733800"/>
            <a:ext cx="22733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585C6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Generate an application on top of the shared foundation and validate it with users.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851900" y="1968500"/>
            <a:ext cx="2679700" cy="345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D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851900" y="1968500"/>
            <a:ext cx="2679700" cy="0"/>
          </a:xfrm>
          <a:prstGeom prst="line">
            <a:avLst/>
          </a:prstGeom>
          <a:noFill/>
          <a:ln w="25400">
            <a:solidFill>
              <a:srgbClr val="B2ED1D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055100" y="2298700"/>
            <a:ext cx="2273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b="1" spc="80" kern="0" dirty="0">
                <a:solidFill>
                  <a:srgbClr val="73B2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PHASE 4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9055100" y="2679700"/>
            <a:ext cx="22733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50B1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Expand and reuse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9055100" y="3733800"/>
            <a:ext cx="22733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585C6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Add more assets, applications, analytics, digital twins and AI workflows.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09600" y="5740400"/>
            <a:ext cx="109728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50B1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first application delivers immediate value. The foundation makes every future use case easier.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77800" y="6502400"/>
            <a:ext cx="825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A5A5A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Copyright © 2026 Tier0. All rights reserved.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10795000" y="6502400"/>
            <a:ext cx="889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A5A5A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/ 08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610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ier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" y="304800"/>
            <a:ext cx="1473200" cy="355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9600" y="2692400"/>
            <a:ext cx="10795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Tektur" pitchFamily="34" charset="0"/>
                <a:ea typeface="Tektur" pitchFamily="34" charset="-122"/>
                <a:cs typeface="Tektur" pitchFamily="34" charset="-120"/>
              </a:rPr>
              <a:t>Build the Unified Data Foundation.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609600" y="3327400"/>
            <a:ext cx="10795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B2ED1D"/>
                </a:solidFill>
                <a:latin typeface="Tektur" pitchFamily="34" charset="0"/>
                <a:ea typeface="Tektur" pitchFamily="34" charset="-122"/>
                <a:cs typeface="Tektur" pitchFamily="34" charset="-120"/>
              </a:rPr>
              <a:t>Generate Connected Applications.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609600" y="3962400"/>
            <a:ext cx="10795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7C838C"/>
                </a:solidFill>
                <a:latin typeface="Tektur" pitchFamily="34" charset="0"/>
                <a:ea typeface="Tektur" pitchFamily="34" charset="-122"/>
                <a:cs typeface="Tektur" pitchFamily="34" charset="-120"/>
              </a:rPr>
              <a:t>Move toward Operational Intelligence.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609600" y="5308600"/>
            <a:ext cx="9652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4A9A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Tier0 Platform · www.tier0.app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09600" y="5778500"/>
            <a:ext cx="9652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6717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sales@tier0.app ]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177800" y="6502400"/>
            <a:ext cx="825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0795000" y="6502400"/>
            <a:ext cx="889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66717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 / 08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ektu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Tier0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Tier0 V4 Hybrid · Dual Output Example</dc:title>
  <dc:subject>Unified data foundation and connected applications</dc:subject>
  <dc:creator>Tier0</dc:creator>
  <cp:lastModifiedBy>Tier0</cp:lastModifiedBy>
  <cp:revision>1</cp:revision>
  <dcterms:created xsi:type="dcterms:W3CDTF">2026-08-03T06:01:15Z</dcterms:created>
  <dcterms:modified xsi:type="dcterms:W3CDTF">2026-08-03T06:01:15Z</dcterms:modified>
</cp:coreProperties>
</file>