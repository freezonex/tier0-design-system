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01-cover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02-challenge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03-compare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04-section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05-builder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06-cost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07-adoption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08-closing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0" y="0"/>
            <a:ext cx="4445000" cy="68580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99400" y="127000"/>
            <a:ext cx="41402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* * * ◦ ◦ ◦ • • • • • • ◦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* ◦ ◦ • • • • • • • 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◦ ◦ • • • • ▢ ▢ ▢ ▢ 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◦ ◦ • • • ▢ ▢ ▢ ▢ ▢ ▢ 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◦ • • • ▢ ▢ ▢ ▣ ▣ ▣ ▣ ▢ 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• • • ▢ ▢ ▢ ▣ ▣ ▣ ▣ ▣ ▢ 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• • • ▢ ▢ ▢ ▢ ▣ ▣ ▣ ▢ ▢ 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• • • ▢ ▢ ▢ ▢ ▢ ▢ ▢ ▢ 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• • • • • • • ▢ ▢ ▢ • 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• • • • • • • • • • • 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◦ • • • • • • • • • • • ◦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◦ ◦ ◦ ◦ ◦ ◦ ◦ ◦ ◦ ◦ ◦ ◦ ◦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◦ ◦ ◦ ◦ ◦ ◦ ◦ ◦ ◦ ◦ ◦ ◦ *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◦ ◦ ◦ ◦ ◦ ◦ * * * * * * *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* * * * * * * * * * * *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* * * * * * * * * * * +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* * * * * * * * * * + +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* * * * * * * * + + + +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* * * * * * * + + + + + +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+ + + * * + + + + + + + +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+ + + + + + + + + + + + -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+ + + + + + + + + + + + -</a:t>
            </a:r>
            <a:endParaRPr lang="en-US" sz="750" dirty="0"/>
          </a:p>
        </p:txBody>
      </p:sp>
      <p:pic>
        <p:nvPicPr>
          <p:cNvPr id="4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00" y="355600"/>
            <a:ext cx="1422400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1800" y="1498600"/>
            <a:ext cx="68834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800" spc="-8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[UNS]
</a:t>
            </a:r>
            <a:pPr algn="l" indent="0" marL="0">
              <a:lnSpc>
                <a:spcPct val="112000"/>
              </a:lnSpc>
              <a:buNone/>
            </a:pPr>
            <a:r>
              <a:rPr lang="en-US" sz="4800" spc="-8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data foundation.</a:t>
            </a:r>
            <a:endParaRPr lang="en-US" sz="4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800" spc="-8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Connected applications.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31800" y="4470400"/>
            <a:ext cx="6350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First for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Industrial Digitalization.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31800" y="5740400"/>
            <a:ext cx="68834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1800" y="5918200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F3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Tier0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31800" y="6299200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00" kern="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INDUSTRIAL DATA PLATFORM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0" y="60198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F34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900" y="304800"/>
            <a:ext cx="825500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431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10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8000" y="762000"/>
            <a:ext cx="11150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spc="-4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industrial digitalization projects mostly fail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08000" y="1625600"/>
            <a:ext cx="1041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new system gets integrated, customized and deployed from scratch. Cost rises while reuse disappears.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8000" y="2222500"/>
            <a:ext cx="35814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8000" y="2222500"/>
            <a:ext cx="3581400" cy="0"/>
          </a:xfrm>
          <a:prstGeom prst="line">
            <a:avLst/>
          </a:prstGeom>
          <a:noFill/>
          <a:ln w="25400">
            <a:solidFill>
              <a:srgbClr val="B2ED1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6600" y="25146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6600" y="2844800"/>
            <a:ext cx="312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two factories are alike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6600" y="3606800"/>
            <a:ext cx="31242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6600" y="3759200"/>
            <a:ext cx="3124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Different equipment, cadence and process make every rollout a new integration and modeling project.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41800" y="2222500"/>
            <a:ext cx="35814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41800" y="2222500"/>
            <a:ext cx="3581400" cy="0"/>
          </a:xfrm>
          <a:prstGeom prst="line">
            <a:avLst/>
          </a:prstGeom>
          <a:noFill/>
          <a:ln w="25400">
            <a:solidFill>
              <a:srgbClr val="B2ED1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70400" y="25146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470400" y="2844800"/>
            <a:ext cx="312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systems cost a fortune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470400" y="3606800"/>
            <a:ext cx="31242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70400" y="3759200"/>
            <a:ext cx="3124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license is the small part. Consulting, customization, integration and operations dominate total cost.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5600" y="2222500"/>
            <a:ext cx="35814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975600" y="2222500"/>
            <a:ext cx="3581400" cy="0"/>
          </a:xfrm>
          <a:prstGeom prst="line">
            <a:avLst/>
          </a:prstGeom>
          <a:noFill/>
          <a:ln w="25400">
            <a:solidFill>
              <a:srgbClr val="B2ED1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04200" y="25146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04200" y="2844800"/>
            <a:ext cx="312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Fragmented data, tangled integrations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204200" y="3606800"/>
            <a:ext cx="31242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04200" y="3759200"/>
            <a:ext cx="3124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new application adds another dedicated interface and makes the next change harder.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8000" y="5321300"/>
            <a:ext cx="11150600" cy="647700"/>
          </a:xfrm>
          <a:prstGeom prst="rect">
            <a:avLst/>
          </a:prstGeom>
          <a:solidFill>
            <a:srgbClr val="F5FBDE"/>
          </a:solidFill>
          <a:ln w="12700">
            <a:solidFill>
              <a:srgbClr val="F5FBDE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08000" y="5321300"/>
            <a:ext cx="50800" cy="6477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7400" y="5524500"/>
            <a:ext cx="88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10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714500" y="5448300"/>
            <a:ext cx="927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TCO becomes a recurring cost center instead of a compounding operational asset.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Copyright © 2026 Tier0. All rights reserved.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900" y="304800"/>
            <a:ext cx="825500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889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spc="-4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Point-to-Point Integration to a Unified Namespace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1181100"/>
            <a:ext cx="54356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8000" y="1181100"/>
            <a:ext cx="5435600" cy="381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8000" y="1219200"/>
            <a:ext cx="5435600" cy="5461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2000" y="1333500"/>
            <a:ext cx="4927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Point-to-point integration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65200" y="2222500"/>
            <a:ext cx="127000" cy="127000"/>
          </a:xfrm>
          <a:prstGeom prst="rect">
            <a:avLst/>
          </a:prstGeom>
          <a:solidFill>
            <a:srgbClr val="CDCED0"/>
          </a:solidFill>
          <a:ln w="12700">
            <a:solidFill>
              <a:srgbClr val="CDCED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44600" y="2133600"/>
            <a:ext cx="419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application connects to every source separately.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5200" y="2832100"/>
            <a:ext cx="127000" cy="127000"/>
          </a:xfrm>
          <a:prstGeom prst="rect">
            <a:avLst/>
          </a:prstGeom>
          <a:solidFill>
            <a:srgbClr val="CDCED0"/>
          </a:solidFill>
          <a:ln w="12700">
            <a:solidFill>
              <a:srgbClr val="CDCED0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44600" y="2743200"/>
            <a:ext cx="419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 context is duplicated across projects.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65200" y="3441700"/>
            <a:ext cx="127000" cy="127000"/>
          </a:xfrm>
          <a:prstGeom prst="rect">
            <a:avLst/>
          </a:prstGeom>
          <a:solidFill>
            <a:srgbClr val="CDCED0"/>
          </a:solidFill>
          <a:ln w="12700">
            <a:solidFill>
              <a:srgbClr val="CDCED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44600" y="3352800"/>
            <a:ext cx="419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small change breaks multiple interfaces.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65200" y="4051300"/>
            <a:ext cx="127000" cy="127000"/>
          </a:xfrm>
          <a:prstGeom prst="rect">
            <a:avLst/>
          </a:prstGeom>
          <a:solidFill>
            <a:srgbClr val="CDCED0"/>
          </a:solidFill>
          <a:ln w="12700">
            <a:solidFill>
              <a:srgbClr val="CDCED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44600" y="3962400"/>
            <a:ext cx="419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 cost grows with every new app.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800" y="5461000"/>
            <a:ext cx="482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Repeat again and again.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61100" y="1181100"/>
            <a:ext cx="5435600" cy="495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61100" y="1181100"/>
            <a:ext cx="5435600" cy="381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61100" y="1219200"/>
            <a:ext cx="5435600" cy="546100"/>
          </a:xfrm>
          <a:prstGeom prst="rect">
            <a:avLst/>
          </a:prstGeom>
          <a:solidFill>
            <a:srgbClr val="F5FBDE"/>
          </a:solidFill>
          <a:ln w="12700">
            <a:solidFill>
              <a:srgbClr val="F5FBDE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5100" y="1333500"/>
            <a:ext cx="4927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Namespace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718300" y="2222500"/>
            <a:ext cx="127000" cy="1270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97700" y="2133600"/>
            <a:ext cx="419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Sources publish once into a governed namespace.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718300" y="2832100"/>
            <a:ext cx="127000" cy="1270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97700" y="2743200"/>
            <a:ext cx="419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Operational context is shared and reusable.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718300" y="3441700"/>
            <a:ext cx="127000" cy="1270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97700" y="3352800"/>
            <a:ext cx="419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Applications read and write through one contract.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718300" y="4051300"/>
            <a:ext cx="127000" cy="1270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97700" y="3962400"/>
            <a:ext cx="419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next use case starts with the foundation in place.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565900" y="5461000"/>
            <a:ext cx="482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once. Reuse across applications.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Copyright © 2026 Tier0. All rights reserved.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18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110" kern="0" dirty="0">
                <a:solidFill>
                  <a:srgbClr val="B2ED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CHAPTER 02 ·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600" y="1828800"/>
            <a:ext cx="10604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foundation is only</a:t>
            </a:r>
            <a:endParaRPr lang="en-US" sz="58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5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beginning.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60400" y="4343400"/>
            <a:ext cx="596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CAEB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governed industrial context in place, the next question is what teams can build on top of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9600" y="5892800"/>
            <a:ext cx="10972800" cy="0"/>
          </a:xfrm>
          <a:prstGeom prst="line">
            <a:avLst/>
          </a:prstGeom>
          <a:noFill/>
          <a:ln w="12700">
            <a:solidFill>
              <a:srgbClr val="334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6146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spc="60" kern="0" dirty="0">
                <a:solidFill>
                  <a:srgbClr val="667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DIVIDER · PURE TITLE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795000" y="6146800"/>
            <a:ext cx="78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7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900" y="304800"/>
            <a:ext cx="825500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4318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10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 GENERATION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8000" y="762000"/>
            <a:ext cx="11176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spc="-4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Builder · vibe coding for industrial ops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8000" y="1930400"/>
            <a:ext cx="38100" cy="6985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1200" y="19050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whole app from a single brief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11200" y="2209800"/>
            <a:ext cx="381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the task in plain English and receive a running application.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08000" y="2895600"/>
            <a:ext cx="38100" cy="6985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1200" y="28702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Auto-wired to plant data via UNS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1200" y="3175000"/>
            <a:ext cx="381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Applications use live operational context without another integration project.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8000" y="3860800"/>
            <a:ext cx="38100" cy="6985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1200" y="38354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governance, built in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1200" y="4140200"/>
            <a:ext cx="381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Users, permissions, audit and versioning are present from day one.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8000" y="4826000"/>
            <a:ext cx="38100" cy="6985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1200" y="48006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code, your future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11200" y="5105400"/>
            <a:ext cx="381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web technology keeps the application extensible and portable.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53000" y="1816100"/>
            <a:ext cx="6705600" cy="419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34000" y="2260600"/>
            <a:ext cx="1651000" cy="990600"/>
          </a:xfrm>
          <a:prstGeom prst="rect">
            <a:avLst/>
          </a:prstGeom>
          <a:solidFill>
            <a:srgbClr val="F4F4F4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61000" y="2476500"/>
            <a:ext cx="13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50B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 · brief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85000" y="2755900"/>
            <a:ext cx="355600" cy="0"/>
          </a:xfrm>
          <a:prstGeom prst="line">
            <a:avLst/>
          </a:prstGeom>
          <a:noFill/>
          <a:ln w="25400">
            <a:solidFill>
              <a:srgbClr val="73B2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40600" y="2260600"/>
            <a:ext cx="1651000" cy="990600"/>
          </a:xfrm>
          <a:prstGeom prst="rect">
            <a:avLst/>
          </a:prstGeom>
          <a:solidFill>
            <a:srgbClr val="F5FBDE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67600" y="2476500"/>
            <a:ext cx="13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50B14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AppBuilder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991600" y="2755900"/>
            <a:ext cx="355600" cy="0"/>
          </a:xfrm>
          <a:prstGeom prst="line">
            <a:avLst/>
          </a:prstGeom>
          <a:noFill/>
          <a:ln w="25400">
            <a:solidFill>
              <a:srgbClr val="73B2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347200" y="2260600"/>
            <a:ext cx="1651000" cy="990600"/>
          </a:xfrm>
          <a:prstGeom prst="rect">
            <a:avLst/>
          </a:prstGeom>
          <a:solidFill>
            <a:srgbClr val="F4F4F4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74200" y="2476500"/>
            <a:ext cx="13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50B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Generated app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34000" y="36449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73B200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UNS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334000" y="3962400"/>
            <a:ext cx="3175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 and write live operational context through a governed namespace.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763000" y="3632200"/>
            <a:ext cx="2413000" cy="1422400"/>
          </a:xfrm>
          <a:prstGeom prst="rect">
            <a:avLst/>
          </a:prstGeom>
          <a:solidFill>
            <a:srgbClr val="F4F4F4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017000" y="3898900"/>
            <a:ext cx="1905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running application with users, permissions, audit and versioning.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Copyright © 2026 Tier0. All rights reserved.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08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900" y="304800"/>
            <a:ext cx="825500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55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10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COST CALCULATIONS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09600" y="685800"/>
            <a:ext cx="10972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spc="-4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applications — at 0.75X instead of 2X.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55600" y="1346200"/>
            <a:ext cx="11480800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3600" y="21717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Traditional Dev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10200" y="20320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spc="80" kern="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 COST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10200" y="2286000"/>
            <a:ext cx="152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50B14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X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959600" y="2349500"/>
            <a:ext cx="38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050B14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+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391400" y="20320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spc="80" kern="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INTEGRATION COST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391400" y="2286000"/>
            <a:ext cx="2286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50B14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X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9525000" y="2349500"/>
            <a:ext cx="38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050B14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≈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906000" y="20320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spc="80" kern="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906000" y="2209800"/>
            <a:ext cx="165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050B14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2X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5410200" y="2997200"/>
            <a:ext cx="546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 normally equals development cost.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55600" y="3632200"/>
            <a:ext cx="11480800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3600" y="44577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73B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UNS Dev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10200" y="43180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spc="80" kern="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 COST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10200" y="4572000"/>
            <a:ext cx="152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73B200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0.5X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6959600" y="4635500"/>
            <a:ext cx="38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050B14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+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7391400" y="43180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spc="80" kern="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INTEGRATION COST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391400" y="4572000"/>
            <a:ext cx="2286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73B200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0.25X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9525000" y="4635500"/>
            <a:ext cx="38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050B14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≈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9906000" y="43180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spc="80" kern="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906000" y="4495800"/>
            <a:ext cx="165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73B200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0.75X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5410200" y="5283200"/>
            <a:ext cx="546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 falls as the reusable foundation compounds.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09600" y="6121400"/>
            <a:ext cx="10972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resources are saved as the namespace and application patterns are reused.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Copyright © 2026 Tier0. All rights reserved.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08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900" y="304800"/>
            <a:ext cx="825500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431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10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RECOMMENDED ADOPTION PATH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8000" y="762000"/>
            <a:ext cx="1092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spc="-4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with a valuable use case. Build the reusable foundation behind it.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8000" y="1968500"/>
            <a:ext cx="2679700" cy="345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8000" y="1968500"/>
            <a:ext cx="2679700" cy="0"/>
          </a:xfrm>
          <a:prstGeom prst="line">
            <a:avLst/>
          </a:prstGeom>
          <a:noFill/>
          <a:ln w="25400">
            <a:solidFill>
              <a:srgbClr val="B2ED1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1200" y="2298700"/>
            <a:ext cx="227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spc="8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11200" y="2679700"/>
            <a:ext cx="2273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 a valuable operational use case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1200" y="3733800"/>
            <a:ext cx="22733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a use case with clear users, assets, data sources and business outcomes.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89300" y="1968500"/>
            <a:ext cx="2679700" cy="345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89300" y="1968500"/>
            <a:ext cx="2679700" cy="0"/>
          </a:xfrm>
          <a:prstGeom prst="line">
            <a:avLst/>
          </a:prstGeom>
          <a:noFill/>
          <a:ln w="25400">
            <a:solidFill>
              <a:srgbClr val="B2ED1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92500" y="2298700"/>
            <a:ext cx="227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spc="8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2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492500" y="2679700"/>
            <a:ext cx="2273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Unified Data Foundation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92500" y="3733800"/>
            <a:ext cx="22733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the namespace, establish operational context and connect relevant systems.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70600" y="1968500"/>
            <a:ext cx="2679700" cy="345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70600" y="1968500"/>
            <a:ext cx="2679700" cy="0"/>
          </a:xfrm>
          <a:prstGeom prst="line">
            <a:avLst/>
          </a:prstGeom>
          <a:noFill/>
          <a:ln w="25400">
            <a:solidFill>
              <a:srgbClr val="B2ED1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3800" y="2298700"/>
            <a:ext cx="227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spc="8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3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273800" y="2679700"/>
            <a:ext cx="2273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 the first Connected Application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73800" y="3733800"/>
            <a:ext cx="22733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 an application on top of the shared foundation and validate it with users.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851900" y="1968500"/>
            <a:ext cx="2679700" cy="345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851900" y="1968500"/>
            <a:ext cx="2679700" cy="0"/>
          </a:xfrm>
          <a:prstGeom prst="line">
            <a:avLst/>
          </a:prstGeom>
          <a:noFill/>
          <a:ln w="25400">
            <a:solidFill>
              <a:srgbClr val="B2ED1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55100" y="2298700"/>
            <a:ext cx="227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spc="8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4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9055100" y="2679700"/>
            <a:ext cx="2273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Expand and reuse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055100" y="3733800"/>
            <a:ext cx="22733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more assets, applications, analytics, digital twins and AI workflows.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09600" y="5740400"/>
            <a:ext cx="1097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first application delivers immediate value. The foundation makes every future use case easier.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Copyright © 2026 Tier0. All rights reserved.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08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04800"/>
            <a:ext cx="1473200" cy="355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2692400"/>
            <a:ext cx="1079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Build the Unified Data Foundation.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09600" y="3327400"/>
            <a:ext cx="1079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2ED1D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Generate Connected Applications.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09600" y="3962400"/>
            <a:ext cx="1079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C838C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Move toward Operational Intelligence.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09600" y="5308600"/>
            <a:ext cx="965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4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Tier0 Platform · www.tier0.app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9600" y="5778500"/>
            <a:ext cx="965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7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sales@tier0.app ]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7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ektu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Tier0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Tier0 V4 Hybrid · Dual Output Example</dc:title>
  <dc:subject>Unified data foundation and connected applications</dc:subject>
  <dc:creator>Tier0</dc:creator>
  <cp:lastModifiedBy>Tier0</cp:lastModifiedBy>
  <cp:revision>1</cp:revision>
  <dcterms:created xsi:type="dcterms:W3CDTF">2026-08-03T10:02:36Z</dcterms:created>
  <dcterms:modified xsi:type="dcterms:W3CDTF">2026-08-03T10:02:36Z</dcterms:modified>
</cp:coreProperties>
</file>